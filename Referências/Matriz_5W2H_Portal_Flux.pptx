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95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84048"/>
            <a:ext cx="1143000" cy="149047"/>
          </a:xfrm>
          <a:prstGeom prst="rect">
            <a:avLst/>
          </a:prstGeom>
        </p:spPr>
      </p:pic>
      <p:pic>
        <p:nvPicPr>
          <p:cNvPr id="3" name="Image 1" descr="flu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932688"/>
            <a:ext cx="2103120" cy="5257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81051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DOCUMENTO EXECUTIVO · PLANO DO PROJETO ]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20848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5W2H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594360" y="29077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Flux — hub de ferramentas de IA da Tecnofink e empresas do grupo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94360" y="3218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será feito, por quê, com quais tecnologias — e quanto custa.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12648" y="4041648"/>
            <a:ext cx="2743200" cy="0"/>
          </a:xfrm>
          <a:prstGeom prst="line">
            <a:avLst/>
          </a:prstGeom>
          <a:noFill/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594360" y="41696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 Daniel · Análise de Sistemas   ·   07/07/2026   ·   Base: Especificação v2.1 e protótipo validado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VISÃO GERAL 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5W2H em uma página</a:t>
            </a:r>
            <a:endParaRPr lang="en-US" sz="1700" dirty="0"/>
          </a:p>
        </p:txBody>
      </p:sp>
      <p:pic>
        <p:nvPicPr>
          <p:cNvPr id="5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14884"/>
            <a:ext cx="1005840" cy="1316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868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03504" y="1014984"/>
            <a:ext cx="292608" cy="292608"/>
          </a:xfrm>
          <a:prstGeom prst="ellipse">
            <a:avLst/>
          </a:prstGeom>
          <a:solidFill>
            <a:srgbClr val="EEF0F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1074420"/>
            <a:ext cx="173736" cy="173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1042416"/>
            <a:ext cx="1357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03504" y="1417320"/>
            <a:ext cx="16687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(hub) de ferramentas de IA do grupo, com o programa Flux, o Gestor de Tarefas e o Playbook.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2546604" y="86868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2692908" y="1014984"/>
            <a:ext cx="292608" cy="292608"/>
          </a:xfrm>
          <a:prstGeom prst="ellipse">
            <a:avLst/>
          </a:prstGeom>
          <a:solidFill>
            <a:srgbClr val="FEF3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344" y="107442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58668" y="1042416"/>
            <a:ext cx="1357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692908" y="1417320"/>
            <a:ext cx="16687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adoção de IA com governança — e transformar uso em retorno mensurável a cada ciclo.</a:t>
            </a:r>
            <a:endParaRPr lang="en-US" sz="920" dirty="0"/>
          </a:p>
        </p:txBody>
      </p:sp>
      <p:sp>
        <p:nvSpPr>
          <p:cNvPr id="16" name="Shape 11"/>
          <p:cNvSpPr/>
          <p:nvPr/>
        </p:nvSpPr>
        <p:spPr>
          <a:xfrm>
            <a:off x="4636008" y="86868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4782312" y="1014984"/>
            <a:ext cx="292608" cy="292608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748" y="1074420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48072" y="1042416"/>
            <a:ext cx="1357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782312" y="1417320"/>
            <a:ext cx="16687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interno (Daniel + Claude), patrocínio de Marcos, comitê avaliador e todos os colaboradores.</a:t>
            </a:r>
            <a:endParaRPr lang="en-US" sz="920" dirty="0"/>
          </a:p>
        </p:txBody>
      </p:sp>
      <p:sp>
        <p:nvSpPr>
          <p:cNvPr id="21" name="Shape 15"/>
          <p:cNvSpPr/>
          <p:nvPr/>
        </p:nvSpPr>
        <p:spPr>
          <a:xfrm>
            <a:off x="6725412" y="86868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6871716" y="1014984"/>
            <a:ext cx="292608" cy="292608"/>
          </a:xfrm>
          <a:prstGeom prst="ellipse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1074420"/>
            <a:ext cx="173736" cy="1737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37476" y="1042416"/>
            <a:ext cx="1357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871716" y="1417320"/>
            <a:ext cx="16687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web (desktop), hospedado no Firebase — região São Paulo, dados no Brasil (LGPD).</a:t>
            </a:r>
            <a:endParaRPr lang="en-US" sz="920" dirty="0"/>
          </a:p>
        </p:txBody>
      </p:sp>
      <p:sp>
        <p:nvSpPr>
          <p:cNvPr id="26" name="Shape 19"/>
          <p:cNvSpPr/>
          <p:nvPr/>
        </p:nvSpPr>
        <p:spPr>
          <a:xfrm>
            <a:off x="457200" y="274320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0"/>
          <p:cNvSpPr/>
          <p:nvPr/>
        </p:nvSpPr>
        <p:spPr>
          <a:xfrm>
            <a:off x="603504" y="2889504"/>
            <a:ext cx="292608" cy="292608"/>
          </a:xfrm>
          <a:prstGeom prst="ellipse">
            <a:avLst/>
          </a:prstGeom>
          <a:solidFill>
            <a:srgbClr val="E6F5F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" y="2948940"/>
            <a:ext cx="173736" cy="1737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9264" y="2916936"/>
            <a:ext cx="1357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03504" y="3291840"/>
            <a:ext cx="16687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protótipo concluídos; construção até 13/jul; lançamento previsto 14/jul.</a:t>
            </a:r>
            <a:endParaRPr lang="en-US" sz="920" dirty="0"/>
          </a:p>
        </p:txBody>
      </p:sp>
      <p:sp>
        <p:nvSpPr>
          <p:cNvPr id="31" name="Shape 23"/>
          <p:cNvSpPr/>
          <p:nvPr/>
        </p:nvSpPr>
        <p:spPr>
          <a:xfrm>
            <a:off x="2546604" y="274320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2692908" y="2889504"/>
            <a:ext cx="292608" cy="292608"/>
          </a:xfrm>
          <a:prstGeom prst="ellipse">
            <a:avLst/>
          </a:prstGeom>
          <a:solidFill>
            <a:srgbClr val="EEF0F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344" y="2948940"/>
            <a:ext cx="173736" cy="1737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058668" y="2916936"/>
            <a:ext cx="1357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2692908" y="3291840"/>
            <a:ext cx="16687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com entregas versionadas, stack Google (Firebase + Workspace) e desenvolvimento assistido por IA.</a:t>
            </a:r>
            <a:endParaRPr lang="en-US" sz="920" dirty="0"/>
          </a:p>
        </p:txBody>
      </p:sp>
      <p:sp>
        <p:nvSpPr>
          <p:cNvPr id="36" name="Shape 27"/>
          <p:cNvSpPr/>
          <p:nvPr/>
        </p:nvSpPr>
        <p:spPr>
          <a:xfrm>
            <a:off x="4636008" y="274320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28"/>
          <p:cNvSpPr/>
          <p:nvPr/>
        </p:nvSpPr>
        <p:spPr>
          <a:xfrm>
            <a:off x="4782312" y="2889504"/>
            <a:ext cx="292608" cy="292608"/>
          </a:xfrm>
          <a:prstGeom prst="ellipse">
            <a:avLst/>
          </a:prstGeom>
          <a:solidFill>
            <a:srgbClr val="FEF3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1748" y="2948940"/>
            <a:ext cx="173736" cy="17373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148072" y="2916936"/>
            <a:ext cx="1357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4782312" y="3291840"/>
            <a:ext cx="16687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R$ 0/mês dentro da franquia gratuita; ~R$ 40/ano de domínio; sem licenças nem contratações.</a:t>
            </a:r>
            <a:endParaRPr lang="en-US" sz="920" dirty="0"/>
          </a:p>
        </p:txBody>
      </p:sp>
      <p:sp>
        <p:nvSpPr>
          <p:cNvPr id="41" name="Shape 31"/>
          <p:cNvSpPr/>
          <p:nvPr/>
        </p:nvSpPr>
        <p:spPr>
          <a:xfrm>
            <a:off x="6725412" y="2743200"/>
            <a:ext cx="1961388" cy="1691640"/>
          </a:xfrm>
          <a:prstGeom prst="roundRect">
            <a:avLst>
              <a:gd name="adj" fmla="val 29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2"/>
          <p:cNvSpPr/>
          <p:nvPr/>
        </p:nvSpPr>
        <p:spPr>
          <a:xfrm>
            <a:off x="6871716" y="2907792"/>
            <a:ext cx="1668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6871716" y="3127248"/>
            <a:ext cx="1668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4000" dirty="0"/>
          </a:p>
        </p:txBody>
      </p:sp>
      <p:sp>
        <p:nvSpPr>
          <p:cNvPr id="44" name="Text 34"/>
          <p:cNvSpPr/>
          <p:nvPr/>
        </p:nvSpPr>
        <p:spPr>
          <a:xfrm>
            <a:off x="6871716" y="3767328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licenças, software e contratações externas</a:t>
            </a:r>
            <a:endParaRPr lang="en-US" sz="920" dirty="0"/>
          </a:p>
        </p:txBody>
      </p:sp>
      <p:sp>
        <p:nvSpPr>
          <p:cNvPr id="45" name="Text 35"/>
          <p:cNvSpPr/>
          <p:nvPr/>
        </p:nvSpPr>
        <p:spPr>
          <a:xfrm>
            <a:off x="457200" y="46817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de cada resposta nos slides seguintes — com foco em tecnologias (slides 6 e 7) e custos (slides 8 e 9).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[ 5W2H · 1 E 2 ]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quê será feito — e por quê</a:t>
            </a:r>
            <a:endParaRPr lang="en-US" sz="1700" dirty="0"/>
          </a:p>
        </p:txBody>
      </p:sp>
      <p:pic>
        <p:nvPicPr>
          <p:cNvPr id="5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14884"/>
            <a:ext cx="1005840" cy="1316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8680"/>
            <a:ext cx="4041648" cy="3977640"/>
          </a:xfrm>
          <a:prstGeom prst="roundRect">
            <a:avLst>
              <a:gd name="adj" fmla="val 12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1335024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portal web exclusivo dos colaboradores do grupo Tecnofink: a porta única de entrada para as ferramentas de IA da empresa, com login corporativo Google Workspace.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2286000"/>
            <a:ext cx="363931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86384" y="2395728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87552" y="2350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87552" y="2560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inovação: pitch, execução com Claude, avaliação do comitê e ranking em tempo real.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658368" y="3127248"/>
            <a:ext cx="363931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323697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987552" y="3191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Tarefas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87552" y="34015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prazos e quadro de tarefas dos projetos — integrado aos pitches do Flux.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58368" y="3968496"/>
            <a:ext cx="363931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786384" y="407822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987552" y="4032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87552" y="42428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existente da Tecnofink, importada para dentro do hub.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645152" y="868680"/>
            <a:ext cx="4041648" cy="3977640"/>
          </a:xfrm>
          <a:prstGeom prst="roundRect">
            <a:avLst>
              <a:gd name="adj" fmla="val 12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846320" y="10424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846320" y="1417320"/>
            <a:ext cx="310896" cy="310896"/>
          </a:xfrm>
          <a:prstGeom prst="ellipse">
            <a:avLst/>
          </a:prstGeom>
          <a:solidFill>
            <a:srgbClr val="FEF3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481328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85232" y="13853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mensurável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285232" y="15956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 mede o retorno tangível real de cada projeto, validado pelo comitê — o programa comprova o próprio valor.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4846320" y="2258568"/>
            <a:ext cx="310896" cy="310896"/>
          </a:xfrm>
          <a:prstGeom prst="ellipse">
            <a:avLst/>
          </a:prstGeom>
          <a:solidFill>
            <a:srgbClr val="EEF0F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322576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85232" y="22265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dos acessos ao Claude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285232" y="24368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liberado por pitch aprovado, válido até o fim do ciclo: sem pitch, sem acesso.</a:t>
            </a:r>
            <a:endParaRPr lang="en-US" sz="880" dirty="0"/>
          </a:p>
        </p:txBody>
      </p:sp>
      <p:sp>
        <p:nvSpPr>
          <p:cNvPr id="31" name="Shape 26"/>
          <p:cNvSpPr/>
          <p:nvPr/>
        </p:nvSpPr>
        <p:spPr>
          <a:xfrm>
            <a:off x="4846320" y="3099816"/>
            <a:ext cx="310896" cy="310896"/>
          </a:xfrm>
          <a:prstGeom prst="ellipse">
            <a:avLst/>
          </a:prstGeom>
          <a:solidFill>
            <a:srgbClr val="E6F5F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163824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85232" y="30678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285232" y="32781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público do ciclo, fichas abertas e logs de auditoria completos.</a:t>
            </a:r>
            <a:endParaRPr lang="en-US" sz="880" dirty="0"/>
          </a:p>
        </p:txBody>
      </p:sp>
      <p:sp>
        <p:nvSpPr>
          <p:cNvPr id="35" name="Shape 29"/>
          <p:cNvSpPr/>
          <p:nvPr/>
        </p:nvSpPr>
        <p:spPr>
          <a:xfrm>
            <a:off x="4846320" y="3941064"/>
            <a:ext cx="310896" cy="310896"/>
          </a:xfrm>
          <a:prstGeom prst="ellipse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4005072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85232" y="39090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da adoção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5285232" y="41193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para crescer dos ~12 usuários atuais para todo o grupo, com processo e regras claras.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[ 5W2H · 3 E 4 ]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participa — e onde roda</a:t>
            </a:r>
            <a:endParaRPr lang="en-US" sz="1700" dirty="0"/>
          </a:p>
        </p:txBody>
      </p:sp>
      <p:pic>
        <p:nvPicPr>
          <p:cNvPr id="5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14884"/>
            <a:ext cx="1005840" cy="1316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8680"/>
            <a:ext cx="4041648" cy="3977640"/>
          </a:xfrm>
          <a:prstGeom prst="roundRect">
            <a:avLst>
              <a:gd name="adj" fmla="val 12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8368" y="1417320"/>
            <a:ext cx="310896" cy="310896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4813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3853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Patrocínio — Marcos (Diretoria de Operações)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97280" y="15956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 do programa; administrador do portal e membro do comitê.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658368" y="2258568"/>
            <a:ext cx="310896" cy="310896"/>
          </a:xfrm>
          <a:prstGeom prst="ellipse">
            <a:avLst/>
          </a:prstGeom>
          <a:solidFill>
            <a:srgbClr val="EEF0F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32257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2265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— Daniel (Análise de Sistemas)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097280" y="24368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e administração do portal, com desenvolvimento assistido por IA (Claude).</a:t>
            </a:r>
            <a:endParaRPr lang="en-US" sz="880" dirty="0"/>
          </a:p>
        </p:txBody>
      </p:sp>
      <p:sp>
        <p:nvSpPr>
          <p:cNvPr id="16" name="Shape 11"/>
          <p:cNvSpPr/>
          <p:nvPr/>
        </p:nvSpPr>
        <p:spPr>
          <a:xfrm>
            <a:off x="658368" y="3099816"/>
            <a:ext cx="310896" cy="310896"/>
          </a:xfrm>
          <a:prstGeom prst="ellipse">
            <a:avLst/>
          </a:prstGeom>
          <a:solidFill>
            <a:srgbClr val="FEF3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16382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0678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avaliador — Marcos, Emilio e Thomas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097280" y="32781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dos pitches, validação dos resultados e notas dos projetos.</a:t>
            </a:r>
            <a:endParaRPr lang="en-US" sz="880" dirty="0"/>
          </a:p>
        </p:txBody>
      </p:sp>
      <p:sp>
        <p:nvSpPr>
          <p:cNvPr id="20" name="Shape 14"/>
          <p:cNvSpPr/>
          <p:nvPr/>
        </p:nvSpPr>
        <p:spPr>
          <a:xfrm>
            <a:off x="658368" y="3941064"/>
            <a:ext cx="310896" cy="310896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005072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9090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— colaboradores do grupo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97280" y="41193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empresas Tecnofink, via e-mail corporativo autorizado.</a:t>
            </a:r>
            <a:endParaRPr lang="en-US" sz="880" dirty="0"/>
          </a:p>
        </p:txBody>
      </p:sp>
      <p:sp>
        <p:nvSpPr>
          <p:cNvPr id="24" name="Shape 17"/>
          <p:cNvSpPr/>
          <p:nvPr/>
        </p:nvSpPr>
        <p:spPr>
          <a:xfrm>
            <a:off x="4645152" y="868680"/>
            <a:ext cx="4041648" cy="3977640"/>
          </a:xfrm>
          <a:prstGeom prst="roundRect">
            <a:avLst>
              <a:gd name="adj" fmla="val 12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18"/>
          <p:cNvSpPr/>
          <p:nvPr/>
        </p:nvSpPr>
        <p:spPr>
          <a:xfrm>
            <a:off x="4846320" y="10424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846320" y="1417320"/>
            <a:ext cx="310896" cy="310896"/>
          </a:xfrm>
          <a:prstGeom prst="ellipse">
            <a:avLst/>
          </a:prstGeom>
          <a:solidFill>
            <a:srgbClr val="EEF0F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1481328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85232" y="13853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 nuvem, sem servidor próprio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285232" y="15956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para desktop, hospedada no Firebase (Google Cloud) com domínio próprio.</a:t>
            </a:r>
            <a:endParaRPr lang="en-US" sz="880" dirty="0"/>
          </a:p>
        </p:txBody>
      </p:sp>
      <p:sp>
        <p:nvSpPr>
          <p:cNvPr id="30" name="Shape 22"/>
          <p:cNvSpPr/>
          <p:nvPr/>
        </p:nvSpPr>
        <p:spPr>
          <a:xfrm>
            <a:off x="4846320" y="2258568"/>
            <a:ext cx="310896" cy="310896"/>
          </a:xfrm>
          <a:prstGeom prst="ellipse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2322576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85232" y="22265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São Paulo (southamerica-east1)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285232" y="24368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no Brasil — menor latência e aderência à LGPD.</a:t>
            </a:r>
            <a:endParaRPr lang="en-US" sz="880" dirty="0"/>
          </a:p>
        </p:txBody>
      </p:sp>
      <p:sp>
        <p:nvSpPr>
          <p:cNvPr id="34" name="Shape 25"/>
          <p:cNvSpPr/>
          <p:nvPr/>
        </p:nvSpPr>
        <p:spPr>
          <a:xfrm>
            <a:off x="4846320" y="3099816"/>
            <a:ext cx="310896" cy="310896"/>
          </a:xfrm>
          <a:prstGeom prst="ellipse">
            <a:avLst/>
          </a:prstGeom>
          <a:solidFill>
            <a:srgbClr val="EDEFF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3163824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85232" y="30678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na organização GitHub da Tecnofink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5285232" y="32781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corporativo privado, versionado.</a:t>
            </a:r>
            <a:endParaRPr lang="en-US" sz="880" dirty="0"/>
          </a:p>
        </p:txBody>
      </p:sp>
      <p:sp>
        <p:nvSpPr>
          <p:cNvPr id="38" name="Shape 28"/>
          <p:cNvSpPr/>
          <p:nvPr/>
        </p:nvSpPr>
        <p:spPr>
          <a:xfrm>
            <a:off x="4846320" y="3941064"/>
            <a:ext cx="310896" cy="310896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4005072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285232" y="39090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pelo Google Workspace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5285232" y="41193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transacionais saem da conta corporativa já contratada.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[ 5W2H · 5 ]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— fases e previsão</a:t>
            </a:r>
            <a:endParaRPr lang="en-US" sz="1700" dirty="0"/>
          </a:p>
        </p:txBody>
      </p:sp>
      <p:pic>
        <p:nvPicPr>
          <p:cNvPr id="5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14884"/>
            <a:ext cx="1005840" cy="1316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12573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921258" y="1152144"/>
            <a:ext cx="329184" cy="329184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38" y="1220724"/>
            <a:ext cx="192024" cy="192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" y="1554480"/>
            <a:ext cx="1147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512064" y="173736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12064" y="2139696"/>
            <a:ext cx="114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3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30352" y="2340864"/>
            <a:ext cx="1110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v2.1 aprovada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1851660" y="1005840"/>
            <a:ext cx="12573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2315718" y="1152144"/>
            <a:ext cx="329184" cy="329184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298" y="1220724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06524" y="1554480"/>
            <a:ext cx="1147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680" dirty="0"/>
          </a:p>
        </p:txBody>
      </p:sp>
      <p:sp>
        <p:nvSpPr>
          <p:cNvPr id="17" name="Text 12"/>
          <p:cNvSpPr/>
          <p:nvPr/>
        </p:nvSpPr>
        <p:spPr>
          <a:xfrm>
            <a:off x="1906524" y="173736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Prototipagem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906524" y="2139696"/>
            <a:ext cx="114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3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924812" y="2340864"/>
            <a:ext cx="1110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interativo validado</a:t>
            </a:r>
            <a:endParaRPr lang="en-US" sz="780" dirty="0"/>
          </a:p>
        </p:txBody>
      </p:sp>
      <p:sp>
        <p:nvSpPr>
          <p:cNvPr id="20" name="Shape 15"/>
          <p:cNvSpPr/>
          <p:nvPr/>
        </p:nvSpPr>
        <p:spPr>
          <a:xfrm>
            <a:off x="3246120" y="1005840"/>
            <a:ext cx="1257300" cy="1965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3710178" y="1152144"/>
            <a:ext cx="329184" cy="329184"/>
          </a:xfrm>
          <a:prstGeom prst="ellipse">
            <a:avLst/>
          </a:prstGeom>
          <a:solidFill>
            <a:srgbClr val="FEF3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758" y="122072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300984" y="1554480"/>
            <a:ext cx="1147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680" dirty="0"/>
          </a:p>
        </p:txBody>
      </p:sp>
      <p:sp>
        <p:nvSpPr>
          <p:cNvPr id="24" name="Text 18"/>
          <p:cNvSpPr/>
          <p:nvPr/>
        </p:nvSpPr>
        <p:spPr>
          <a:xfrm>
            <a:off x="3300984" y="173736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stacks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300984" y="2139696"/>
            <a:ext cx="114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3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07–08/jul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3319272" y="2340864"/>
            <a:ext cx="1110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arquitetura e custos</a:t>
            </a:r>
            <a:endParaRPr lang="en-US" sz="780" dirty="0"/>
          </a:p>
        </p:txBody>
      </p:sp>
      <p:sp>
        <p:nvSpPr>
          <p:cNvPr id="27" name="Shape 21"/>
          <p:cNvSpPr/>
          <p:nvPr/>
        </p:nvSpPr>
        <p:spPr>
          <a:xfrm>
            <a:off x="4640580" y="1005840"/>
            <a:ext cx="12573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5104638" y="1152144"/>
            <a:ext cx="329184" cy="329184"/>
          </a:xfrm>
          <a:prstGeom prst="ellipse">
            <a:avLst/>
          </a:prstGeom>
          <a:solidFill>
            <a:srgbClr val="EDEFF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218" y="1220724"/>
            <a:ext cx="192024" cy="1920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95444" y="1554480"/>
            <a:ext cx="1147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PREVISTA</a:t>
            </a:r>
            <a:endParaRPr lang="en-US" sz="680" dirty="0"/>
          </a:p>
        </p:txBody>
      </p:sp>
      <p:sp>
        <p:nvSpPr>
          <p:cNvPr id="31" name="Text 24"/>
          <p:cNvSpPr/>
          <p:nvPr/>
        </p:nvSpPr>
        <p:spPr>
          <a:xfrm>
            <a:off x="4695444" y="173736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695444" y="2139696"/>
            <a:ext cx="114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3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13/jul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713732" y="2340864"/>
            <a:ext cx="1110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com Claude Code</a:t>
            </a:r>
            <a:endParaRPr lang="en-US" sz="780" dirty="0"/>
          </a:p>
        </p:txBody>
      </p:sp>
      <p:sp>
        <p:nvSpPr>
          <p:cNvPr id="34" name="Shape 27"/>
          <p:cNvSpPr/>
          <p:nvPr/>
        </p:nvSpPr>
        <p:spPr>
          <a:xfrm>
            <a:off x="6035040" y="1005840"/>
            <a:ext cx="12573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28"/>
          <p:cNvSpPr/>
          <p:nvPr/>
        </p:nvSpPr>
        <p:spPr>
          <a:xfrm>
            <a:off x="6499098" y="1152144"/>
            <a:ext cx="329184" cy="329184"/>
          </a:xfrm>
          <a:prstGeom prst="ellipse">
            <a:avLst/>
          </a:prstGeom>
          <a:solidFill>
            <a:srgbClr val="EDEFF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678" y="1220724"/>
            <a:ext cx="192024" cy="19202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89904" y="1554480"/>
            <a:ext cx="1147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PREVISTA</a:t>
            </a:r>
            <a:endParaRPr lang="en-US" sz="680" dirty="0"/>
          </a:p>
        </p:txBody>
      </p:sp>
      <p:sp>
        <p:nvSpPr>
          <p:cNvPr id="38" name="Text 30"/>
          <p:cNvSpPr/>
          <p:nvPr/>
        </p:nvSpPr>
        <p:spPr>
          <a:xfrm>
            <a:off x="6089904" y="173736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089904" y="2139696"/>
            <a:ext cx="114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3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13/jul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6108192" y="2340864"/>
            <a:ext cx="1110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o comitê e pilotos</a:t>
            </a:r>
            <a:endParaRPr lang="en-US" sz="780" dirty="0"/>
          </a:p>
        </p:txBody>
      </p:sp>
      <p:sp>
        <p:nvSpPr>
          <p:cNvPr id="41" name="Shape 33"/>
          <p:cNvSpPr/>
          <p:nvPr/>
        </p:nvSpPr>
        <p:spPr>
          <a:xfrm>
            <a:off x="7429500" y="1005840"/>
            <a:ext cx="12573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34"/>
          <p:cNvSpPr/>
          <p:nvPr/>
        </p:nvSpPr>
        <p:spPr>
          <a:xfrm>
            <a:off x="7893558" y="1152144"/>
            <a:ext cx="329184" cy="329184"/>
          </a:xfrm>
          <a:prstGeom prst="ellipse">
            <a:avLst/>
          </a:prstGeom>
          <a:solidFill>
            <a:srgbClr val="EDEFF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138" y="1220724"/>
            <a:ext cx="192024" cy="19202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484364" y="1554480"/>
            <a:ext cx="1147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PREVISTA</a:t>
            </a:r>
            <a:endParaRPr lang="en-US" sz="680" dirty="0"/>
          </a:p>
        </p:txBody>
      </p:sp>
      <p:sp>
        <p:nvSpPr>
          <p:cNvPr id="45" name="Text 36"/>
          <p:cNvSpPr/>
          <p:nvPr/>
        </p:nvSpPr>
        <p:spPr>
          <a:xfrm>
            <a:off x="7484364" y="173736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7484364" y="2139696"/>
            <a:ext cx="11475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3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14/jul/26</a:t>
            </a:r>
            <a:endParaRPr lang="en-US" sz="850" dirty="0"/>
          </a:p>
        </p:txBody>
      </p:sp>
      <p:sp>
        <p:nvSpPr>
          <p:cNvPr id="47" name="Text 38"/>
          <p:cNvSpPr/>
          <p:nvPr/>
        </p:nvSpPr>
        <p:spPr>
          <a:xfrm>
            <a:off x="7502652" y="2340864"/>
            <a:ext cx="1110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no ar para o grupo</a:t>
            </a:r>
            <a:endParaRPr lang="en-US" sz="780" dirty="0"/>
          </a:p>
        </p:txBody>
      </p:sp>
      <p:sp>
        <p:nvSpPr>
          <p:cNvPr id="48" name="Shape 39"/>
          <p:cNvSpPr/>
          <p:nvPr/>
        </p:nvSpPr>
        <p:spPr>
          <a:xfrm>
            <a:off x="457200" y="3246120"/>
            <a:ext cx="267462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Shape 40"/>
          <p:cNvSpPr/>
          <p:nvPr/>
        </p:nvSpPr>
        <p:spPr>
          <a:xfrm>
            <a:off x="603504" y="34015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1"/>
          <p:cNvSpPr/>
          <p:nvPr/>
        </p:nvSpPr>
        <p:spPr>
          <a:xfrm>
            <a:off x="786384" y="3355848"/>
            <a:ext cx="2217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ENTREGUE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603504" y="3611880"/>
            <a:ext cx="23820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de Requisitos v2.1 · Inventário de 24 telas · Protótipo interativo validado com pareceres · Política de Uso de IA em vigor.</a:t>
            </a:r>
            <a:endParaRPr lang="en-US" sz="860" dirty="0"/>
          </a:p>
        </p:txBody>
      </p:sp>
      <p:sp>
        <p:nvSpPr>
          <p:cNvPr id="52" name="Shape 43"/>
          <p:cNvSpPr/>
          <p:nvPr/>
        </p:nvSpPr>
        <p:spPr>
          <a:xfrm>
            <a:off x="3268980" y="3246120"/>
            <a:ext cx="267462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3" name="Shape 44"/>
          <p:cNvSpPr/>
          <p:nvPr/>
        </p:nvSpPr>
        <p:spPr>
          <a:xfrm>
            <a:off x="3415284" y="34015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45"/>
          <p:cNvSpPr/>
          <p:nvPr/>
        </p:nvSpPr>
        <p:spPr>
          <a:xfrm>
            <a:off x="3598164" y="3355848"/>
            <a:ext cx="2217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 (JUL/26)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3415284" y="3611880"/>
            <a:ext cx="23820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dados no Firestore, arquitetura Firebase e detalhamento de custos — inclui o levantamento do Gestor de Tarefas (CRM) e do Playbook para importação.</a:t>
            </a:r>
            <a:endParaRPr lang="en-US" sz="860" dirty="0"/>
          </a:p>
        </p:txBody>
      </p:sp>
      <p:sp>
        <p:nvSpPr>
          <p:cNvPr id="56" name="Shape 47"/>
          <p:cNvSpPr/>
          <p:nvPr/>
        </p:nvSpPr>
        <p:spPr>
          <a:xfrm>
            <a:off x="6080760" y="3246120"/>
            <a:ext cx="267462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Shape 48"/>
          <p:cNvSpPr/>
          <p:nvPr/>
        </p:nvSpPr>
        <p:spPr>
          <a:xfrm>
            <a:off x="6227064" y="3401568"/>
            <a:ext cx="109728" cy="109728"/>
          </a:xfrm>
          <a:prstGeom prst="ellipse">
            <a:avLst/>
          </a:prstGeom>
          <a:solidFill>
            <a:srgbClr val="2A3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49"/>
          <p:cNvSpPr/>
          <p:nvPr/>
        </p:nvSpPr>
        <p:spPr>
          <a:xfrm>
            <a:off x="6409944" y="3355848"/>
            <a:ext cx="2217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A3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LANÇAMENTO</a:t>
            </a:r>
            <a:endParaRPr lang="en-US" sz="900" dirty="0"/>
          </a:p>
        </p:txBody>
      </p:sp>
      <p:sp>
        <p:nvSpPr>
          <p:cNvPr id="59" name="Text 50"/>
          <p:cNvSpPr/>
          <p:nvPr/>
        </p:nvSpPr>
        <p:spPr>
          <a:xfrm>
            <a:off x="6227064" y="3611880"/>
            <a:ext cx="23820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no ar em 14/07/2026, junto com a abertura das inscrições do Ciclo 1 do Flux — pitches inscritos pelo sistema desde o primeiro dia.</a:t>
            </a:r>
            <a:endParaRPr lang="en-US" sz="860" dirty="0"/>
          </a:p>
        </p:txBody>
      </p:sp>
      <p:sp>
        <p:nvSpPr>
          <p:cNvPr id="60" name="Text 51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definido — lançamento alinhado à abertura das inscrições do Ciclo 1 do Flux (14/07/2026).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[ 5W2H · 6 · COMO 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do projeto</a:t>
            </a:r>
            <a:endParaRPr lang="en-US" sz="1700" dirty="0"/>
          </a:p>
        </p:txBody>
      </p:sp>
      <p:pic>
        <p:nvPicPr>
          <p:cNvPr id="5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14884"/>
            <a:ext cx="1005840" cy="1316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766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Google que a Tecnofink já contrata, somado a desenvolvimento interno assistido por IA — nada de licenças novas.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03504" y="1170432"/>
            <a:ext cx="329184" cy="329184"/>
          </a:xfrm>
          <a:prstGeom prst="ellipse">
            <a:avLst/>
          </a:prstGeom>
          <a:solidFill>
            <a:srgbClr val="EEF0F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1239012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" y="1591056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3504" y="1828800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com CDN, SSL e domínio próprio — sem servidor para manter.</a:t>
            </a:r>
            <a:endParaRPr lang="en-US" sz="860" dirty="0"/>
          </a:p>
        </p:txBody>
      </p:sp>
      <p:sp>
        <p:nvSpPr>
          <p:cNvPr id="12" name="Shape 8"/>
          <p:cNvSpPr/>
          <p:nvPr/>
        </p:nvSpPr>
        <p:spPr>
          <a:xfrm>
            <a:off x="2546604" y="1024128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2692908" y="1170432"/>
            <a:ext cx="329184" cy="329184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1239012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92908" y="1591056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692908" y="1828800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“Entrar com Google Workspace” restrito aos domínios do grupo (Identity Platform).</a:t>
            </a:r>
            <a:endParaRPr lang="en-US" sz="860" dirty="0"/>
          </a:p>
        </p:txBody>
      </p:sp>
      <p:sp>
        <p:nvSpPr>
          <p:cNvPr id="17" name="Shape 12"/>
          <p:cNvSpPr/>
          <p:nvPr/>
        </p:nvSpPr>
        <p:spPr>
          <a:xfrm>
            <a:off x="4636008" y="1024128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4782312" y="1170432"/>
            <a:ext cx="329184" cy="329184"/>
          </a:xfrm>
          <a:prstGeom prst="ellipse">
            <a:avLst/>
          </a:prstGeom>
          <a:solidFill>
            <a:srgbClr val="FEF3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892" y="1239012"/>
            <a:ext cx="192024" cy="1920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82312" y="1591056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782312" y="1828800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em tempo real: ranking e kanban ao vivo, região São Paulo.</a:t>
            </a:r>
            <a:endParaRPr lang="en-US" sz="860" dirty="0"/>
          </a:p>
        </p:txBody>
      </p:sp>
      <p:sp>
        <p:nvSpPr>
          <p:cNvPr id="22" name="Shape 16"/>
          <p:cNvSpPr/>
          <p:nvPr/>
        </p:nvSpPr>
        <p:spPr>
          <a:xfrm>
            <a:off x="6725412" y="1024128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6871716" y="1170432"/>
            <a:ext cx="329184" cy="329184"/>
          </a:xfrm>
          <a:prstGeom prst="ellipse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1239012"/>
            <a:ext cx="192024" cy="1920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71716" y="1591056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871716" y="1828800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de evidência dos resultados (planilhas, imagens, documentos).</a:t>
            </a:r>
            <a:endParaRPr lang="en-US" sz="860" dirty="0"/>
          </a:p>
        </p:txBody>
      </p:sp>
      <p:sp>
        <p:nvSpPr>
          <p:cNvPr id="27" name="Shape 20"/>
          <p:cNvSpPr/>
          <p:nvPr/>
        </p:nvSpPr>
        <p:spPr>
          <a:xfrm>
            <a:off x="457200" y="2871216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1"/>
          <p:cNvSpPr/>
          <p:nvPr/>
        </p:nvSpPr>
        <p:spPr>
          <a:xfrm>
            <a:off x="603504" y="3017520"/>
            <a:ext cx="329184" cy="329184"/>
          </a:xfrm>
          <a:prstGeom prst="ellipse">
            <a:avLst/>
          </a:prstGeom>
          <a:solidFill>
            <a:srgbClr val="E6F5F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" y="3086100"/>
            <a:ext cx="192024" cy="19202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03504" y="3438144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603504" y="3675888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cálculo da pontuação, regras de acesso e disparo de notificações.</a:t>
            </a:r>
            <a:endParaRPr lang="en-US" sz="860" dirty="0"/>
          </a:p>
        </p:txBody>
      </p:sp>
      <p:sp>
        <p:nvSpPr>
          <p:cNvPr id="32" name="Shape 24"/>
          <p:cNvSpPr/>
          <p:nvPr/>
        </p:nvSpPr>
        <p:spPr>
          <a:xfrm>
            <a:off x="2546604" y="2871216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25"/>
          <p:cNvSpPr/>
          <p:nvPr/>
        </p:nvSpPr>
        <p:spPr>
          <a:xfrm>
            <a:off x="2692908" y="3017520"/>
            <a:ext cx="329184" cy="329184"/>
          </a:xfrm>
          <a:prstGeom prst="ellipse">
            <a:avLst/>
          </a:prstGeom>
          <a:solidFill>
            <a:srgbClr val="E7F7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1488" y="3086100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692908" y="3438144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2692908" y="3675888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transacional pela conta corporativa já contratada.</a:t>
            </a:r>
            <a:endParaRPr lang="en-US" sz="860" dirty="0"/>
          </a:p>
        </p:txBody>
      </p:sp>
      <p:sp>
        <p:nvSpPr>
          <p:cNvPr id="37" name="Shape 28"/>
          <p:cNvSpPr/>
          <p:nvPr/>
        </p:nvSpPr>
        <p:spPr>
          <a:xfrm>
            <a:off x="4636008" y="2871216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29"/>
          <p:cNvSpPr/>
          <p:nvPr/>
        </p:nvSpPr>
        <p:spPr>
          <a:xfrm>
            <a:off x="4782312" y="3017520"/>
            <a:ext cx="329184" cy="329184"/>
          </a:xfrm>
          <a:prstGeom prst="ellipse">
            <a:avLst/>
          </a:prstGeom>
          <a:solidFill>
            <a:srgbClr val="EDEFF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892" y="3086100"/>
            <a:ext cx="192024" cy="19202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782312" y="3438144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corporativo</a:t>
            </a:r>
            <a:endParaRPr lang="en-US" sz="1050" dirty="0"/>
          </a:p>
        </p:txBody>
      </p:sp>
      <p:sp>
        <p:nvSpPr>
          <p:cNvPr id="41" name="Text 31"/>
          <p:cNvSpPr/>
          <p:nvPr/>
        </p:nvSpPr>
        <p:spPr>
          <a:xfrm>
            <a:off x="4782312" y="3675888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privado na organização Tecnofink, com versionamento.</a:t>
            </a:r>
            <a:endParaRPr lang="en-US" sz="860" dirty="0"/>
          </a:p>
        </p:txBody>
      </p:sp>
      <p:sp>
        <p:nvSpPr>
          <p:cNvPr id="42" name="Shape 32"/>
          <p:cNvSpPr/>
          <p:nvPr/>
        </p:nvSpPr>
        <p:spPr>
          <a:xfrm>
            <a:off x="6725412" y="2871216"/>
            <a:ext cx="1961388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Shape 33"/>
          <p:cNvSpPr/>
          <p:nvPr/>
        </p:nvSpPr>
        <p:spPr>
          <a:xfrm>
            <a:off x="6871716" y="3017520"/>
            <a:ext cx="329184" cy="329184"/>
          </a:xfrm>
          <a:prstGeom prst="ellipse">
            <a:avLst/>
          </a:prstGeom>
          <a:solidFill>
            <a:srgbClr val="EEF0F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0296" y="3086100"/>
            <a:ext cx="192024" cy="19202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871716" y="3438144"/>
            <a:ext cx="1668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050" dirty="0"/>
          </a:p>
        </p:txBody>
      </p:sp>
      <p:sp>
        <p:nvSpPr>
          <p:cNvPr id="46" name="Text 35"/>
          <p:cNvSpPr/>
          <p:nvPr/>
        </p:nvSpPr>
        <p:spPr>
          <a:xfrm>
            <a:off x="6871716" y="3675888"/>
            <a:ext cx="16687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no Claude Design e construção com Claude Code — o portal é, ele próprio, um projeto de IA.</a:t>
            </a:r>
            <a:endParaRPr lang="en-US" sz="860" dirty="0"/>
          </a:p>
        </p:txBody>
      </p:sp>
      <p:sp>
        <p:nvSpPr>
          <p:cNvPr id="47" name="Text 36"/>
          <p:cNvSpPr/>
          <p:nvPr/>
        </p:nvSpPr>
        <p:spPr>
          <a:xfrm>
            <a:off x="457200" y="4736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avaliadas: Supabase (Postgres) e Google Cloud tradicional — o Firebase venceu pela aderência ao ecossistema Google do grupo, tempo real nativo e custo.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[ 5W2H · 7 · QUANTO CUSTA 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item a item</a:t>
            </a:r>
            <a:endParaRPr lang="en-US" sz="1700" dirty="0"/>
          </a:p>
        </p:txBody>
      </p:sp>
      <p:pic>
        <p:nvPicPr>
          <p:cNvPr id="5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14884"/>
            <a:ext cx="1005840" cy="13167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577840" cy="341528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estimado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Hospedagem, CDN e SSL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Hosting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 — dentro da franquia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corporativo (SSO Google)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 até 50 mil usuários ativos/mês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de dados em tempo real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Firestore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 — franquia de 50 mil leituras/dia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Arquivos de evidência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 até 5 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(cálculos e notificações)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Functions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 até 2 milhões de execuções/mês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transacional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Workspace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 — já contratado pelo grupo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 de código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(org. privada)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 — plano gratuito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próprio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registro.br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R$ 40/ano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91440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6428232" y="1024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R$ 0/mês</a:t>
            </a:r>
            <a:endParaRPr lang="en-US" sz="2400" dirty="0"/>
          </a:p>
        </p:txBody>
      </p:sp>
      <p:sp>
        <p:nvSpPr>
          <p:cNvPr id="6" name="Text 5"/>
          <p:cNvSpPr/>
          <p:nvPr/>
        </p:nvSpPr>
        <p:spPr>
          <a:xfrm>
            <a:off x="6428232" y="1426464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4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estimada no volume atual — as franquias gratuitas do plano Blaze cobrem o uso projetado</a:t>
            </a:r>
            <a:endParaRPr lang="en-US" sz="840" dirty="0"/>
          </a:p>
        </p:txBody>
      </p:sp>
      <p:sp>
        <p:nvSpPr>
          <p:cNvPr id="10" name="Shape 6"/>
          <p:cNvSpPr/>
          <p:nvPr/>
        </p:nvSpPr>
        <p:spPr>
          <a:xfrm>
            <a:off x="6263640" y="2212848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2A3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6428232" y="23225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R$ 50/mês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428232" y="2724912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4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provisionado como margem de segurança para crescimento de uso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6263640" y="3511296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6428232" y="3621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428232" y="4023360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4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implantação: sem licenças, sem software novo, sem contratação externa</a:t>
            </a:r>
            <a:endParaRPr lang="en-US" sz="840" dirty="0"/>
          </a:p>
        </p:txBody>
      </p:sp>
      <p:sp>
        <p:nvSpPr>
          <p:cNvPr id="16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Franquias e valores das tabelas públicas (consultadas em jan/2026 — confirmar vigência). No plano Blaze, cobra-se apenas o excedente da franquia gratuita. Controle: alertas de orçamento no Google Cloud (avisos automáticos em R$ 10 e R$ 50) para sinalizar qualquer excedente antes de virar custo.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nof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84048"/>
            <a:ext cx="1143000" cy="1490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669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SÍNTESE PARA DECISÃO ]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residual, retorno medido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2A3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18379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256946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licenças, software novo ou terceiros — desenvolvimento interno assistido por IA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2A3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520440" y="18379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R$ 40/ano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520440" y="23317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REALISTA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520440" y="256946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domínio próprio; a operação fica dentro das franquias gratuitas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169164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2A3A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309360" y="183794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R$ 640/ano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309360" y="23317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PROVISIONADO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09360" y="256946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cenário orçado: domínio + margem de R$ 50/mês para crescimento de uso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370332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portal usa o ecossistema Google que o grupo já paga e é construído internamente com IA.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retorno não é promessa: o próprio Flux mede, a cada ciclo, o ganho tangível validado pelo comitê.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4434840"/>
            <a:ext cx="2743200" cy="0"/>
          </a:xfrm>
          <a:prstGeom prst="line">
            <a:avLst/>
          </a:prstGeom>
          <a:noFill/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48640" y="4553712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para iniciar a Modelagem e a Construção, com lançamento em 14/07/2026 — junto com a abertura do Ciclo 1 do Flux.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1361</Words>
  <Application>Microsoft Office PowerPoint</Application>
  <PresentationFormat>Apresentação na tela (16:9)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Flux — Matriz 5W2H</dc:title>
  <dc:subject>PptxGenJS Presentation</dc:subject>
  <dc:creator>Tecnofink</dc:creator>
  <cp:lastModifiedBy>Daniel Moacir de Ávila</cp:lastModifiedBy>
  <cp:revision>2</cp:revision>
  <dcterms:created xsi:type="dcterms:W3CDTF">2026-07-07T20:15:00Z</dcterms:created>
  <dcterms:modified xsi:type="dcterms:W3CDTF">2026-07-07T20:20:02Z</dcterms:modified>
</cp:coreProperties>
</file>