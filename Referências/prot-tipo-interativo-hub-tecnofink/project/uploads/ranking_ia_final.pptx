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59" r:id="rId6"/>
    <p:sldId id="260" r:id="rId7"/>
    <p:sldId id="266" r:id="rId8"/>
    <p:sldId id="267" r:id="rId9"/>
    <p:sldId id="261" r:id="rId10"/>
    <p:sldId id="262" r:id="rId11"/>
    <p:sldId id="263" r:id="rId12"/>
    <p:sldId id="264" r:id="rId13"/>
    <p:sldId id="268" r:id="rId14"/>
    <p:sldId id="270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81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programa e os 5 critérios de avaliação com seus pesos.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4 etapas. Destacar que o retorno real valida a estimativa — isso garante credibilidade ao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ficha de inscrição. A memória de cálculo do retorno tangível é importante — o colaborador precisa explicar como chegou no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projeto deve se enquadrar em uma das 5 categorias. O colaborador escolhe a que melhor representa o foco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o retorno tangível tem 40% de peso — isso garante que o ranking reflita impacto real, não apenas percepção.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mostra como um projeto preenchido se parece na prática. Útil para calibrar expectativas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global com todos os projetos. Os 5 primeiros colocados são destacados.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categoria tem seu próprio campeão. Isso garante que projetos de menor escala financeira mas grande impacto na área também sejam reconhecidos.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calendário do ciclo 1. Enfatizar que as datas são flexíveis para o primeiro ciclo — o importante é estruturar o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Terminar com energia — o programa é uma oportunidade real de reconhecimento.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ao Flux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  <p:sp>
        <p:nvSpPr>
          <p:cNvPr id="2" name="FaixaEsq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2050"/>
          </a:solidFill>
          <a:ln>
            <a:solidFill>
              <a:srgbClr val="16205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LinhaDivOuro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C8A84B"/>
          </a:solidFill>
          <a:ln>
            <a:solidFill>
              <a:srgbClr val="C8A84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4" name="Flux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0"/>
            <a:ext cx="3200400" cy="800100"/>
          </a:xfrm>
          <a:prstGeom prst="rect">
            <a:avLst/>
          </a:prstGeom>
        </p:spPr>
      </p:pic>
      <p:sp>
        <p:nvSpPr>
          <p:cNvPr id="5" name="LogoSub"/>
          <p:cNvSpPr/>
          <p:nvPr/>
        </p:nvSpPr>
        <p:spPr>
          <a:xfrm>
            <a:off x="182880" y="1462320"/>
            <a:ext cx="32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i="1" dirty="0">
                <a:solidFill>
                  <a:srgbClr val="CADCFC"/>
                </a:solidFill>
              </a:rPr>
              <a:t>Programa de Inovação com Inteligência Artificial</a:t>
            </a:r>
          </a:p>
        </p:txBody>
      </p:sp>
      <p:pic>
        <p:nvPicPr>
          <p:cNvPr id="6" name="Ax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828800"/>
            <a:ext cx="1645920" cy="2240280"/>
          </a:xfrm>
          <a:prstGeom prst="rect">
            <a:avLst/>
          </a:prstGeom>
        </p:spPr>
      </p:pic>
      <p:sp>
        <p:nvSpPr>
          <p:cNvPr id="7" name="TituloDir"/>
          <p:cNvSpPr/>
          <p:nvPr/>
        </p:nvSpPr>
        <p:spPr>
          <a:xfrm>
            <a:off x="3886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dirty="0">
                <a:solidFill>
                  <a:srgbClr val="FFFFFF"/>
                </a:solidFill>
                <a:latin typeface="Cambria" pitchFamily="34" charset="0"/>
              </a:rPr>
              <a:t>O que significa Flux?</a:t>
            </a:r>
          </a:p>
        </p:txBody>
      </p:sp>
      <p:sp>
        <p:nvSpPr>
          <p:cNvPr id="8" name="LinhaOuro"/>
          <p:cNvSpPr/>
          <p:nvPr/>
        </p:nvSpPr>
        <p:spPr>
          <a:xfrm>
            <a:off x="3886200" y="822960"/>
            <a:ext cx="640080" cy="45720"/>
          </a:xfrm>
          <a:prstGeom prst="rect">
            <a:avLst/>
          </a:prstGeom>
          <a:solidFill>
            <a:srgbClr val="C8A84B"/>
          </a:solidFill>
          <a:ln>
            <a:solidFill>
              <a:srgbClr val="C8A84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" name="B1"/>
          <p:cNvSpPr/>
          <p:nvPr/>
        </p:nvSpPr>
        <p:spPr>
          <a:xfrm>
            <a:off x="3886200" y="960120"/>
            <a:ext cx="5093208" cy="941832"/>
          </a:xfrm>
          <a:prstGeom prst="roundRect">
            <a:avLst>
              <a:gd name="adj" fmla="val 8000"/>
            </a:avLst>
          </a:prstGeom>
          <a:solidFill>
            <a:srgbClr val="2A3A80">
              <a:alpha val="70000"/>
            </a:srgbClr>
          </a:solidFill>
          <a:ln>
            <a:solidFill>
              <a:srgbClr val="2A3A80"/>
            </a:solidFill>
          </a:ln>
        </p:spPr>
        <p:txBody>
          <a:bodyPr wrap="square" lIns="228600" tIns="182880" rIns="228600" rtlCol="0" anchor="t"/>
          <a:lstStyle/>
          <a:p>
            <a:pPr marL="0" indent="0">
              <a:buNone/>
            </a:pPr>
            <a:r>
              <a:rPr lang="pt-BR" sz="1100" b="1" dirty="0">
                <a:solidFill>
                  <a:srgbClr val="C8A84B"/>
                </a:solidFill>
              </a:rPr>
              <a:t>Origem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FFFFFF"/>
                </a:solidFill>
              </a:rPr>
              <a:t>Do latim </a:t>
            </a:r>
            <a:r>
              <a:rPr lang="pt-BR" sz="1100" b="1" i="1" dirty="0">
                <a:solidFill>
                  <a:srgbClr val="CADCFC"/>
                </a:solidFill>
              </a:rPr>
              <a:t>fluxus</a:t>
            </a:r>
            <a:r>
              <a:rPr lang="pt-BR" sz="1100" dirty="0">
                <a:solidFill>
                  <a:srgbClr val="FFFFFF"/>
                </a:solidFill>
              </a:rPr>
              <a:t> — fluxo, movimento contínuo, estado de transformação constante. Na física, descreve energia ou matéria em movimento permanente, nunca estática.</a:t>
            </a:r>
          </a:p>
        </p:txBody>
      </p:sp>
      <p:sp>
        <p:nvSpPr>
          <p:cNvPr id="11" name="B2"/>
          <p:cNvSpPr/>
          <p:nvPr/>
        </p:nvSpPr>
        <p:spPr>
          <a:xfrm>
            <a:off x="3886200" y="2176272"/>
            <a:ext cx="1661160" cy="896112"/>
          </a:xfrm>
          <a:prstGeom prst="roundRect">
            <a:avLst>
              <a:gd name="adj" fmla="val 8000"/>
            </a:avLst>
          </a:prstGeom>
          <a:solidFill>
            <a:srgbClr val="0F1F5C"/>
          </a:solidFill>
          <a:ln w="18000">
            <a:solidFill>
              <a:srgbClr val="C8A84B"/>
            </a:solidFill>
          </a:ln>
        </p:spPr>
        <p:txBody>
          <a:bodyPr wrap="square" lIns="182880" rIns="182880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C8A84B"/>
                </a:solidFill>
              </a:rPr>
              <a:t>Movimento</a:t>
            </a:r>
          </a:p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Projetos que saem do papel e geram resultado real</a:t>
            </a:r>
          </a:p>
        </p:txBody>
      </p:sp>
      <p:sp>
        <p:nvSpPr>
          <p:cNvPr id="12" name="B3"/>
          <p:cNvSpPr/>
          <p:nvPr/>
        </p:nvSpPr>
        <p:spPr>
          <a:xfrm>
            <a:off x="5638800" y="2167128"/>
            <a:ext cx="1661160" cy="905256"/>
          </a:xfrm>
          <a:prstGeom prst="roundRect">
            <a:avLst>
              <a:gd name="adj" fmla="val 8000"/>
            </a:avLst>
          </a:prstGeom>
          <a:solidFill>
            <a:srgbClr val="0F1F5C"/>
          </a:solidFill>
          <a:ln w="18000">
            <a:solidFill>
              <a:srgbClr val="C8A84B"/>
            </a:solidFill>
          </a:ln>
        </p:spPr>
        <p:txBody>
          <a:bodyPr wrap="square" lIns="182880" rIns="182880" rtlCol="0" anchor="ctr"/>
          <a:lstStyle/>
          <a:p>
            <a:pPr marL="0" indent="0" algn="ctr">
              <a:buNone/>
            </a:pPr>
            <a:r>
              <a:rPr lang="pt-BR" sz="1300" b="1" dirty="0">
                <a:solidFill>
                  <a:srgbClr val="C8A84B"/>
                </a:solidFill>
              </a:rPr>
              <a:t>Transformação</a:t>
            </a:r>
          </a:p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A IA como estado permanente de evolução do trabalho</a:t>
            </a:r>
          </a:p>
        </p:txBody>
      </p:sp>
      <p:sp>
        <p:nvSpPr>
          <p:cNvPr id="13" name="B4"/>
          <p:cNvSpPr/>
          <p:nvPr/>
        </p:nvSpPr>
        <p:spPr>
          <a:xfrm>
            <a:off x="7391400" y="2167128"/>
            <a:ext cx="1661160" cy="905256"/>
          </a:xfrm>
          <a:prstGeom prst="roundRect">
            <a:avLst>
              <a:gd name="adj" fmla="val 8000"/>
            </a:avLst>
          </a:prstGeom>
          <a:solidFill>
            <a:srgbClr val="0F1F5C"/>
          </a:solidFill>
          <a:ln w="18000">
            <a:solidFill>
              <a:srgbClr val="C8A84B"/>
            </a:solidFill>
          </a:ln>
        </p:spPr>
        <p:txBody>
          <a:bodyPr wrap="square" lIns="182880" rIns="182880" rtlCol="0" anchor="ctr"/>
          <a:lstStyle/>
          <a:p>
            <a:pPr marL="0" indent="0" algn="ctr">
              <a:buNone/>
            </a:pPr>
            <a:r>
              <a:rPr lang="pt-BR" sz="1300" b="1" dirty="0">
                <a:solidFill>
                  <a:srgbClr val="C8A84B"/>
                </a:solidFill>
              </a:rPr>
              <a:t>Energia com direção</a:t>
            </a:r>
          </a:p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Flux não é movimento aleatório — é impacto mensurável</a:t>
            </a:r>
          </a:p>
        </p:txBody>
      </p:sp>
      <p:sp>
        <p:nvSpPr>
          <p:cNvPr id="14" name="Citacao"/>
          <p:cNvSpPr/>
          <p:nvPr/>
        </p:nvSpPr>
        <p:spPr>
          <a:xfrm>
            <a:off x="3886200" y="3310128"/>
            <a:ext cx="5138928" cy="1508760"/>
          </a:xfrm>
          <a:prstGeom prst="roundRect">
            <a:avLst>
              <a:gd name="adj" fmla="val 8000"/>
            </a:avLst>
          </a:prstGeom>
          <a:solidFill>
            <a:srgbClr val="2A4FD4">
              <a:alpha val="30000"/>
            </a:srgbClr>
          </a:solidFill>
          <a:ln w="9144">
            <a:solidFill>
              <a:srgbClr val="2A4FD4">
                <a:alpha val="60000"/>
              </a:srgbClr>
            </a:solidFill>
          </a:ln>
        </p:spPr>
        <p:txBody>
          <a:bodyPr wrap="square" lIns="274320" tIns="182880" rIns="274320" rtlCol="0" anchor="ctr"/>
          <a:lstStyle/>
          <a:p>
            <a:pPr marL="0" indent="0">
              <a:buNone/>
            </a:pPr>
            <a:r>
              <a:rPr lang="pt-BR" sz="1200" i="1" dirty="0">
                <a:solidFill>
                  <a:srgbClr val="FFFFFF"/>
                </a:solidFill>
              </a:rPr>
              <a:t>“Flux não é um nome por acaso. Em física, flux é a medida da energia em movimento — força com direção e propósito. É exatamente isso que este programa propõe: transformar a inteligência artificial em energia real dentro da Tecnofink, projeto a projeto, colaborador a colaborador.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300" b="1" dirty="0">
                <a:solidFill>
                  <a:srgbClr val="C8A84B"/>
                </a:solidFill>
              </a:rPr>
              <a:t>Bem-vindos ao Flux.”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10515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Projetos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Inteligência Artificial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0972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Inove, mensure e seja reconhecido pelo impacto real da IA </a:t>
            </a:r>
            <a:r>
              <a:rPr lang="en-US" sz="1500" i="1" dirty="0" err="1">
                <a:solidFill>
                  <a:srgbClr val="CADCFC"/>
                </a:solidFill>
              </a:rPr>
              <a:t>na</a:t>
            </a:r>
            <a:r>
              <a:rPr lang="en-US" sz="1500" i="1" dirty="0">
                <a:solidFill>
                  <a:srgbClr val="CADCFC"/>
                </a:solidFill>
              </a:rPr>
              <a:t> </a:t>
            </a:r>
            <a:r>
              <a:rPr lang="en-US" sz="1500" i="1" dirty="0" err="1">
                <a:solidFill>
                  <a:srgbClr val="CADCFC"/>
                </a:solidFill>
              </a:rPr>
              <a:t>Tecnofink</a:t>
            </a:r>
            <a:r>
              <a:rPr lang="en-US" sz="1500" i="1" dirty="0">
                <a:solidFill>
                  <a:srgbClr val="CADCFC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40%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2920" y="4279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Retorno Tangível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94560" y="33832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5204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20%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194560" y="4279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Retorno Intangível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86200" y="33832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5204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8620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15%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3886200" y="4279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Impacto (0–5)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77840" y="33832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204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15%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5577840" y="4279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Alcance (0–5)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69480" y="33832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5204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6948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10%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7269480" y="4279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Pontualidade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1005840"/>
            <a:ext cx="1280160" cy="1280160"/>
          </a:xfrm>
          <a:prstGeom prst="rect">
            <a:avLst/>
          </a:prstGeom>
        </p:spPr>
      </p:pic>
      <p:pic>
        <p:nvPicPr>
          <p:cNvPr id="901" name="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  <p:pic>
        <p:nvPicPr>
          <p:cNvPr id="902" name="Flux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"/>
            <a:ext cx="21945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o programa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65760" y="1691640"/>
            <a:ext cx="196596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5786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Inscrição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29260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Colaborador </a:t>
            </a:r>
            <a:r>
              <a:rPr lang="en-US" sz="1100" dirty="0" err="1">
                <a:solidFill>
                  <a:srgbClr val="64748B"/>
                </a:solidFill>
              </a:rPr>
              <a:t>preenche</a:t>
            </a:r>
            <a:r>
              <a:rPr lang="en-US" sz="1100" dirty="0">
                <a:solidFill>
                  <a:srgbClr val="64748B"/>
                </a:solidFill>
              </a:rPr>
              <a:t> o PITCH com nome, setor, projeto, categoria, justificativa e retorno financeiro estimado.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331720" y="2148840"/>
            <a:ext cx="1554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2487168" y="118872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2487168" y="118872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2487168" y="1691640"/>
            <a:ext cx="19659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2487168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0574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78608" y="25786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Execução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624328" y="29260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Projeto é executado dentro do prazo definido. Ao concluir, o colaborador registra o resultado real obtido.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53128" y="2148840"/>
            <a:ext cx="1554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4608576" y="118872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4608576" y="118872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4608576" y="1691640"/>
            <a:ext cx="19659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4608576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20574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00016" y="25786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Avaliação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745736" y="29260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64748B"/>
                </a:solidFill>
              </a:rPr>
              <a:t>Comitê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avalia</a:t>
            </a:r>
            <a:r>
              <a:rPr lang="en-US" sz="1100" dirty="0">
                <a:solidFill>
                  <a:srgbClr val="64748B"/>
                </a:solidFill>
              </a:rPr>
              <a:t>:</a:t>
            </a:r>
            <a:br>
              <a:rPr lang="en-US" sz="1100" dirty="0">
                <a:solidFill>
                  <a:srgbClr val="64748B"/>
                </a:solidFill>
              </a:rPr>
            </a:br>
            <a:r>
              <a:rPr lang="en-US" sz="1100" dirty="0">
                <a:solidFill>
                  <a:srgbClr val="64748B"/>
                </a:solidFill>
              </a:rPr>
              <a:t>     . Impacto (0–5);</a:t>
            </a:r>
            <a:br>
              <a:rPr lang="en-US" sz="1100" dirty="0">
                <a:solidFill>
                  <a:srgbClr val="64748B"/>
                </a:solidFill>
              </a:rPr>
            </a:br>
            <a:r>
              <a:rPr lang="en-US" sz="1100" dirty="0">
                <a:solidFill>
                  <a:srgbClr val="64748B"/>
                </a:solidFill>
              </a:rPr>
              <a:t>     . </a:t>
            </a:r>
            <a:r>
              <a:rPr lang="en-US" sz="1100" dirty="0" err="1">
                <a:solidFill>
                  <a:srgbClr val="64748B"/>
                </a:solidFill>
              </a:rPr>
              <a:t>Alcance</a:t>
            </a:r>
            <a:r>
              <a:rPr lang="en-US" sz="1100" dirty="0">
                <a:solidFill>
                  <a:srgbClr val="64748B"/>
                </a:solidFill>
              </a:rPr>
              <a:t> (0–5); </a:t>
            </a:r>
            <a:br>
              <a:rPr lang="en-US" sz="1100" dirty="0">
                <a:solidFill>
                  <a:srgbClr val="64748B"/>
                </a:solidFill>
              </a:rPr>
            </a:br>
            <a:r>
              <a:rPr lang="en-US" sz="1100" dirty="0">
                <a:solidFill>
                  <a:srgbClr val="64748B"/>
                </a:solidFill>
              </a:rPr>
              <a:t>     . </a:t>
            </a:r>
            <a:r>
              <a:rPr lang="en-US" sz="1100" dirty="0" err="1">
                <a:solidFill>
                  <a:srgbClr val="64748B"/>
                </a:solidFill>
              </a:rPr>
              <a:t>Retorno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tangivél</a:t>
            </a:r>
            <a:r>
              <a:rPr lang="en-US" sz="1100" dirty="0">
                <a:solidFill>
                  <a:srgbClr val="64748B"/>
                </a:solidFill>
              </a:rPr>
              <a:t>;</a:t>
            </a:r>
            <a:br>
              <a:rPr lang="en-US" sz="1100" dirty="0">
                <a:solidFill>
                  <a:srgbClr val="64748B"/>
                </a:solidFill>
              </a:rPr>
            </a:br>
            <a:r>
              <a:rPr lang="en-US" sz="1100" dirty="0">
                <a:solidFill>
                  <a:srgbClr val="64748B"/>
                </a:solidFill>
              </a:rPr>
              <a:t>     . </a:t>
            </a:r>
            <a:r>
              <a:rPr lang="en-US" sz="1100" dirty="0" err="1">
                <a:solidFill>
                  <a:srgbClr val="64748B"/>
                </a:solidFill>
              </a:rPr>
              <a:t>Retorno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intagivél</a:t>
            </a:r>
            <a:r>
              <a:rPr lang="en-US" sz="1100" dirty="0">
                <a:solidFill>
                  <a:srgbClr val="64748B"/>
                </a:solidFill>
              </a:rPr>
              <a:t>;</a:t>
            </a:r>
            <a:br>
              <a:rPr lang="en-US" sz="1100" dirty="0">
                <a:solidFill>
                  <a:srgbClr val="64748B"/>
                </a:solidFill>
              </a:rPr>
            </a:br>
            <a:r>
              <a:rPr lang="en-US" sz="1100" dirty="0">
                <a:solidFill>
                  <a:srgbClr val="64748B"/>
                </a:solidFill>
              </a:rPr>
              <a:t>     . </a:t>
            </a:r>
            <a:r>
              <a:rPr lang="en-US" sz="1100" dirty="0" err="1">
                <a:solidFill>
                  <a:srgbClr val="64748B"/>
                </a:solidFill>
              </a:rPr>
              <a:t>Pontualidade</a:t>
            </a:r>
            <a:r>
              <a:rPr lang="en-US" sz="1100" dirty="0">
                <a:solidFill>
                  <a:srgbClr val="64748B"/>
                </a:solidFill>
              </a:rPr>
              <a:t>;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574536" y="2148840"/>
            <a:ext cx="1554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6729984" y="118872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6729984" y="1188720"/>
            <a:ext cx="1965960" cy="777240"/>
          </a:xfrm>
          <a:prstGeom prst="roundRect">
            <a:avLst>
              <a:gd name="adj" fmla="val 1411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6729984" y="1691640"/>
            <a:ext cx="19659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6729984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205740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21424" y="25786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Ranking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867144" y="29260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Pontuação calculada pelos 5 critérios ponderados. Publicado ranking global e por categoria.</a:t>
            </a:r>
            <a:endParaRPr lang="en-US" sz="11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41326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</a:rPr>
              <a:t>IDENTIFICAÇÃO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Nome do colaborador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56232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8562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Ex: Ana Lima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Setor / Departamento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Ex: Operações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626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Nome do projeto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172968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Ex: Automação de relatório semanal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</a:rPr>
              <a:t>RETORNO FINANCEIRO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Ganhos tangíveis (R$)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56232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18562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Ex: R$ 8.000/mês — economia em horas de equipe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042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Ganhos intangíveis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Ex: Redução de erros, satisfação do cliente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626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Deadline de entrega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72968"/>
            <a:ext cx="37490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4632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Ex: 30/07/2026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1325880"/>
            <a:ext cx="0" cy="33375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94360" y="4114800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77240" y="411480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Justificativa: </a:t>
            </a:r>
            <a:r>
              <a:rPr lang="en-US" sz="1100" dirty="0">
                <a:solidFill>
                  <a:srgbClr val="64748B"/>
                </a:solidFill>
              </a:rPr>
              <a:t>Por que a IA foi essencial neste projeto? Descreva brevemente o problema resolvido e o papel da IA na solução.</a:t>
            </a:r>
            <a:endParaRPr lang="en-US" sz="11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1326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Categorias de projeto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600200" cy="3703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60020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0848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Produtividade e Eficiência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2862072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66928" y="2788920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Automação de tarefas repetitivas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3483864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66928" y="3410712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Aceleração de processos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10565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66928" y="4032504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Disponibilidade 24/7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993392" y="1143000"/>
            <a:ext cx="1600200" cy="3703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1993392" y="114300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993392" y="1691640"/>
            <a:ext cx="160020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2344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6544" y="20848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Qualidade e Tomada de Decisão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130552" y="286207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2286000" y="2788920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Análise de grandes volumes de dados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130552" y="348386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2286000" y="3410712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Previsões mais precisas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130552" y="4105656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2286000" y="4032504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Redução de erros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712464" y="1143000"/>
            <a:ext cx="1600200" cy="3703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3"/>
          <p:cNvSpPr/>
          <p:nvPr/>
        </p:nvSpPr>
        <p:spPr>
          <a:xfrm>
            <a:off x="3712464" y="114300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4"/>
          <p:cNvSpPr/>
          <p:nvPr/>
        </p:nvSpPr>
        <p:spPr>
          <a:xfrm>
            <a:off x="3712464" y="1691640"/>
            <a:ext cx="1600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234440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785616" y="20848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Experiência do Cliente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849624" y="28620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7"/>
          <p:cNvSpPr/>
          <p:nvPr/>
        </p:nvSpPr>
        <p:spPr>
          <a:xfrm>
            <a:off x="4005072" y="2788920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Personalização em escala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849624" y="348386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9"/>
          <p:cNvSpPr/>
          <p:nvPr/>
        </p:nvSpPr>
        <p:spPr>
          <a:xfrm>
            <a:off x="4005072" y="3410712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Respostas mais rápidas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849624" y="41056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/>
          <p:nvPr/>
        </p:nvSpPr>
        <p:spPr>
          <a:xfrm>
            <a:off x="4005072" y="4032504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Suporte mais consistente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431536" y="1143000"/>
            <a:ext cx="1600200" cy="3703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3"/>
          <p:cNvSpPr/>
          <p:nvPr/>
        </p:nvSpPr>
        <p:spPr>
          <a:xfrm>
            <a:off x="5431536" y="114300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4"/>
          <p:cNvSpPr/>
          <p:nvPr/>
        </p:nvSpPr>
        <p:spPr>
          <a:xfrm>
            <a:off x="5431536" y="1691640"/>
            <a:ext cx="16002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1234440"/>
            <a:ext cx="457200" cy="4572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504688" y="20848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Inovação e Competitividade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568696" y="28620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7"/>
          <p:cNvSpPr/>
          <p:nvPr/>
        </p:nvSpPr>
        <p:spPr>
          <a:xfrm>
            <a:off x="5724144" y="2788920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Geração de conteúdo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568696" y="34838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39"/>
          <p:cNvSpPr/>
          <p:nvPr/>
        </p:nvSpPr>
        <p:spPr>
          <a:xfrm>
            <a:off x="5724144" y="3410712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Pesquisa e desenvolvimento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5568696" y="41056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1"/>
          <p:cNvSpPr/>
          <p:nvPr/>
        </p:nvSpPr>
        <p:spPr>
          <a:xfrm>
            <a:off x="5724144" y="4032504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Insights de mercado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7150608" y="1143000"/>
            <a:ext cx="1600200" cy="3703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3"/>
          <p:cNvSpPr/>
          <p:nvPr/>
        </p:nvSpPr>
        <p:spPr>
          <a:xfrm>
            <a:off x="7150608" y="114300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4"/>
          <p:cNvSpPr/>
          <p:nvPr/>
        </p:nvSpPr>
        <p:spPr>
          <a:xfrm>
            <a:off x="7150608" y="1691640"/>
            <a:ext cx="16002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234440"/>
            <a:ext cx="457200" cy="45720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223760" y="20848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Redução de Custos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7287768" y="28620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47"/>
          <p:cNvSpPr/>
          <p:nvPr/>
        </p:nvSpPr>
        <p:spPr>
          <a:xfrm>
            <a:off x="7443216" y="2788920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Menos retrabalho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7287768" y="348386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9"/>
          <p:cNvSpPr/>
          <p:nvPr/>
        </p:nvSpPr>
        <p:spPr>
          <a:xfrm>
            <a:off x="7443216" y="3410712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Otimização de recursos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7287768" y="410565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1"/>
          <p:cNvSpPr/>
          <p:nvPr/>
        </p:nvSpPr>
        <p:spPr>
          <a:xfrm>
            <a:off x="7443216" y="4032504"/>
            <a:ext cx="120700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Escala sem custo proporcional</a:t>
            </a:r>
            <a:endParaRPr lang="en-US" sz="10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41326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avaliação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Como cada projeto será pontuado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081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Retorno Tangível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6642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Valor financeiro real gerado (R$) após execução. Principal critério — moeda comum entre todas as áreas.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53619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355080" y="1536192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872984" y="14813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</a:rPr>
              <a:t>40%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08483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9456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139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Retorno Intangível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88720" y="2395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Ganhos não financeiros: satisfação, qualidade, reputação, cultura. Avaliado pelo gestor.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55080" y="226771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355080" y="226771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7872984" y="22128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</a:rPr>
              <a:t>20%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57200" y="281635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28712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Impacto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3127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Nota de 0 a 5 pelo gestor. O quanto o projeto transformou o processo ou resultado?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355080" y="299923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6355080" y="2999232"/>
            <a:ext cx="301752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7872984" y="2944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</a:rPr>
              <a:t>15%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57200" y="354787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57600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6027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Alcance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88720" y="3858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Nota de 0 a 5 pelo gestor. Quantas pessoas ou áreas foram beneficiadas?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355080" y="37307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6355080" y="3730752"/>
            <a:ext cx="301752" cy="256032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5"/>
          <p:cNvSpPr/>
          <p:nvPr/>
        </p:nvSpPr>
        <p:spPr>
          <a:xfrm>
            <a:off x="7872984" y="36758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</a:rPr>
              <a:t>15%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457200" y="427939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89120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88720" y="4334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Pontualidade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188720" y="45902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Entrega dentro do prazo registrado na inscrição.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355080" y="446227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6355080" y="4462272"/>
            <a:ext cx="201168" cy="256032"/>
          </a:xfrm>
          <a:prstGeom prst="roundRect">
            <a:avLst>
              <a:gd name="adj" fmla="val 2727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1"/>
          <p:cNvSpPr/>
          <p:nvPr/>
        </p:nvSpPr>
        <p:spPr>
          <a:xfrm>
            <a:off x="7872984" y="44074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</a:rPr>
              <a:t>10%</a:t>
            </a:r>
            <a:endParaRPr lang="en-US" sz="18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  <a:latin typeface="Cambria" pitchFamily="34" charset="0"/>
              </a:rPr>
              <a:t>Como calcular o retorno tangível (40%)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i="1" dirty="0">
                <a:solidFill>
                  <a:srgbClr val="CADCFC"/>
                </a:solidFill>
              </a:rPr>
              <a:t>Normalização relativa — o maior projeto do ciclo = 100 pts</a:t>
            </a:r>
          </a:p>
        </p:txBody>
      </p:sp>
      <p:sp>
        <p:nvSpPr>
          <p:cNvPr id="4" name="CardFormula"/>
          <p:cNvSpPr/>
          <p:nvPr/>
        </p:nvSpPr>
        <p:spPr>
          <a:xfrm>
            <a:off x="457200" y="1280160"/>
            <a:ext cx="8229600" cy="768096"/>
          </a:xfrm>
          <a:prstGeom prst="roundRect">
            <a:avLst>
              <a:gd name="adj" fmla="val 8000"/>
            </a:avLst>
          </a:prstGeom>
          <a:solidFill>
            <a:srgbClr val="2A3A80"/>
          </a:solidFill>
          <a:ln w="12700">
            <a:solidFill>
              <a:srgbClr val="2A3A8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b="1" dirty="0">
                <a:solidFill>
                  <a:srgbClr val="F5A623"/>
                </a:solidFill>
              </a:rPr>
              <a:t>FÓRMULA: </a:t>
            </a:r>
            <a:r>
              <a:rPr lang="pt-BR" sz="1400" dirty="0">
                <a:solidFill>
                  <a:srgbClr val="FFFFFF"/>
                </a:solidFill>
              </a:rPr>
              <a:t>pontos = ( retorno do projeto ÷ maior retorno do ciclo ) × 100</a:t>
            </a:r>
          </a:p>
          <a:p>
            <a:pPr marL="0" indent="0" algn="ctr">
              <a:buNone/>
            </a:pPr>
            <a:r>
              <a:rPr lang="pt-BR" sz="1100" dirty="0">
                <a:solidFill>
                  <a:srgbClr val="CADCFC"/>
                </a:solidFill>
              </a:rPr>
              <a:t>Resultado de 0 a 100 pts · peso de 40% na nota final · usa o retorno real após execução</a:t>
            </a:r>
          </a:p>
        </p:txBody>
      </p:sp>
      <p:sp>
        <p:nvSpPr>
          <p:cNvPr id="5" name="CardExemplo"/>
          <p:cNvSpPr/>
          <p:nvPr/>
        </p:nvSpPr>
        <p:spPr>
          <a:xfrm>
            <a:off x="457200" y="2139696"/>
            <a:ext cx="3840480" cy="2505168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/>
            </a:solidFill>
          </a:ln>
        </p:spPr>
        <p:txBody>
          <a:bodyPr wrap="square" lIns="228600" tIns="182880" rIns="228600" rtlCol="0" anchor="t"/>
          <a:lstStyle/>
          <a:p>
            <a:pPr marL="0" indent="0">
              <a:buNone/>
            </a:pPr>
            <a:r>
              <a:rPr lang="pt-BR" sz="1300" b="1" dirty="0">
                <a:solidFill>
                  <a:srgbClr val="F5A623"/>
                </a:solidFill>
              </a:rPr>
              <a:t>Exemplo prático</a:t>
            </a:r>
          </a:p>
          <a:p>
            <a:pPr marL="0" indent="0">
              <a:buNone/>
            </a:pPr>
            <a:endParaRPr lang="pt-BR" sz="1000" dirty="0"/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Ciclo com 3 projetos inscritos:</a:t>
            </a:r>
          </a:p>
          <a:p>
            <a:pPr marL="0" indent="0">
              <a:buNone/>
            </a:pPr>
            <a:endParaRPr lang="pt-BR" sz="900" dirty="0"/>
          </a:p>
          <a:p>
            <a:pPr marL="0" indent="0">
              <a:buNone/>
            </a:pPr>
            <a:r>
              <a:rPr lang="pt-BR" sz="1000" b="1" dirty="0">
                <a:solidFill>
                  <a:srgbClr val="FFFFFF"/>
                </a:solidFill>
              </a:rPr>
              <a:t>Ana Lima — R$ 12.000/mês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12.000 ÷ 14.000 × 100 = </a:t>
            </a:r>
            <a:r>
              <a:rPr lang="pt-BR" sz="1000" b="1" dirty="0">
                <a:solidFill>
                  <a:srgbClr val="22C55E"/>
                </a:solidFill>
              </a:rPr>
              <a:t>86 pts × 40% = 34 pts</a:t>
            </a:r>
          </a:p>
          <a:p>
            <a:pPr marL="0" indent="0">
              <a:buNone/>
            </a:pPr>
            <a:endParaRPr lang="pt-BR" sz="900" dirty="0"/>
          </a:p>
          <a:p>
            <a:pPr marL="0" indent="0">
              <a:buNone/>
            </a:pPr>
            <a:r>
              <a:rPr lang="pt-BR" sz="1000" b="1" dirty="0">
                <a:solidFill>
                  <a:srgbClr val="FFFFFF"/>
                </a:solidFill>
              </a:rPr>
              <a:t>Rafael Costa — R$ 8.000/mês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8.000 ÷ 14.000 × 100 = </a:t>
            </a:r>
            <a:r>
              <a:rPr lang="pt-BR" sz="1000" b="1" dirty="0">
                <a:solidFill>
                  <a:srgbClr val="22C55E"/>
                </a:solidFill>
              </a:rPr>
              <a:t>57 pts × 40% = 23 pts</a:t>
            </a:r>
          </a:p>
          <a:p>
            <a:pPr marL="0" indent="0">
              <a:buNone/>
            </a:pPr>
            <a:endParaRPr lang="pt-BR" sz="900" dirty="0"/>
          </a:p>
          <a:p>
            <a:pPr marL="0" indent="0">
              <a:buNone/>
            </a:pPr>
            <a:r>
              <a:rPr lang="pt-BR" sz="1000" b="1" dirty="0">
                <a:solidFill>
                  <a:srgbClr val="FFFFFF"/>
                </a:solidFill>
              </a:rPr>
              <a:t>Julia Santos — R$ 14.000/mês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14.000 ÷ 14.000 × 100 = </a:t>
            </a:r>
            <a:r>
              <a:rPr lang="pt-BR" sz="1000" b="1" dirty="0">
                <a:solidFill>
                  <a:srgbClr val="F5A623"/>
                </a:solidFill>
              </a:rPr>
              <a:t>100 pts × 40% = 40 pts</a:t>
            </a:r>
          </a:p>
        </p:txBody>
      </p:sp>
      <p:sp>
        <p:nvSpPr>
          <p:cNvPr id="6" name="CardTipos"/>
          <p:cNvSpPr/>
          <p:nvPr/>
        </p:nvSpPr>
        <p:spPr>
          <a:xfrm>
            <a:off x="4480560" y="2139696"/>
            <a:ext cx="4206240" cy="2505168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/>
            </a:solidFill>
          </a:ln>
        </p:spPr>
        <p:txBody>
          <a:bodyPr wrap="square" lIns="228600" tIns="182880" rIns="228600" rtlCol="0" anchor="t"/>
          <a:lstStyle/>
          <a:p>
            <a:pPr marL="0" indent="0">
              <a:buNone/>
            </a:pPr>
            <a:r>
              <a:rPr lang="pt-BR" sz="1300" b="1" dirty="0">
                <a:solidFill>
                  <a:srgbClr val="F5A623"/>
                </a:solidFill>
              </a:rPr>
              <a:t>Tipos de retorno aceitos</a:t>
            </a:r>
          </a:p>
          <a:p>
            <a:pPr marL="0" indent="0">
              <a:buNone/>
            </a:pPr>
            <a:endParaRPr lang="pt-BR" sz="900" dirty="0"/>
          </a:p>
          <a:p>
            <a:pPr marL="0" indent="0">
              <a:buNone/>
            </a:pPr>
            <a:r>
              <a:rPr lang="pt-BR" sz="1000" b="1" dirty="0">
                <a:solidFill>
                  <a:srgbClr val="22C55E"/>
                </a:solidFill>
              </a:rPr>
              <a:t>● </a:t>
            </a:r>
            <a:r>
              <a:rPr lang="pt-BR" sz="1000" b="1" dirty="0">
                <a:solidFill>
                  <a:srgbClr val="FFFFFF"/>
                </a:solidFill>
              </a:rPr>
              <a:t>Economia de horas</a:t>
            </a:r>
            <a:r>
              <a:rPr lang="pt-BR" sz="1000" dirty="0">
                <a:solidFill>
                  <a:srgbClr val="CADCFC"/>
                </a:solidFill>
              </a:rPr>
              <a:t> — horas salvas × custo/hora × período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● </a:t>
            </a:r>
            <a:r>
              <a:rPr lang="pt-BR" sz="1000" b="1" dirty="0">
                <a:solidFill>
                  <a:srgbClr val="FFFFFF"/>
                </a:solidFill>
              </a:rPr>
              <a:t>Redução de custo direto</a:t>
            </a:r>
            <a:r>
              <a:rPr lang="pt-BR" sz="1000" dirty="0">
                <a:solidFill>
                  <a:srgbClr val="CADCFC"/>
                </a:solidFill>
              </a:rPr>
              <a:t> — ferramentas, retrabalho eliminado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● </a:t>
            </a:r>
            <a:r>
              <a:rPr lang="pt-BR" sz="1000" b="1" dirty="0">
                <a:solidFill>
                  <a:srgbClr val="FFFFFF"/>
                </a:solidFill>
              </a:rPr>
              <a:t>Aumento de receita</a:t>
            </a:r>
            <a:r>
              <a:rPr lang="pt-BR" sz="1000" dirty="0">
                <a:solidFill>
                  <a:srgbClr val="CADCFC"/>
                </a:solidFill>
              </a:rPr>
              <a:t> — conversão, upsell, novos clientes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● </a:t>
            </a:r>
            <a:r>
              <a:rPr lang="pt-BR" sz="1000" b="1" dirty="0">
                <a:solidFill>
                  <a:srgbClr val="FFFFFF"/>
                </a:solidFill>
              </a:rPr>
              <a:t>Evitar contratação</a:t>
            </a:r>
            <a:r>
              <a:rPr lang="pt-BR" sz="1000" dirty="0">
                <a:solidFill>
                  <a:srgbClr val="CADCFC"/>
                </a:solidFill>
              </a:rPr>
              <a:t> — IA absorveu demanda de nova vaga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● </a:t>
            </a:r>
            <a:r>
              <a:rPr lang="pt-BR" sz="1000" b="1" dirty="0">
                <a:solidFill>
                  <a:srgbClr val="FFFFFF"/>
                </a:solidFill>
              </a:rPr>
              <a:t>Redução de erros com custo</a:t>
            </a:r>
            <a:r>
              <a:rPr lang="pt-BR" sz="1000" dirty="0">
                <a:solidFill>
                  <a:srgbClr val="CADCFC"/>
                </a:solidFill>
              </a:rPr>
              <a:t> — multas, reembolsos evitados</a:t>
            </a:r>
          </a:p>
        </p:txBody>
      </p:sp>
      <p:sp>
        <p:nvSpPr>
          <p:cNvPr id="7" name="Nota"/>
          <p:cNvSpPr/>
          <p:nvPr/>
        </p:nvSpPr>
        <p:spPr>
          <a:xfrm>
            <a:off x="457200" y="475564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163060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</a:ln>
        </p:spPr>
        <p:txBody>
          <a:bodyPr wrap="square" lIns="228600" rIns="228600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F5A623"/>
                </a:solidFill>
              </a:rPr>
              <a:t>Por que normalização relativa? </a:t>
            </a:r>
            <a:r>
              <a:rPr lang="pt-BR" sz="1000" dirty="0">
                <a:solidFill>
                  <a:srgbClr val="CADCFC"/>
                </a:solidFill>
              </a:rPr>
              <a:t>Projetos de áreas menores competem de forma justa — sem teto fixo arbitrário. O melhor do ciclo sempre vale 100 pts.</a:t>
            </a:r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  <a:latin typeface="Cambria" pitchFamily="34" charset="0"/>
              </a:rPr>
              <a:t>Como avaliar o retorno intangível (20%)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i="1" dirty="0">
                <a:solidFill>
                  <a:srgbClr val="CADCFC"/>
                </a:solidFill>
              </a:rPr>
              <a:t>Nota de 0 a 5 pelo comitê · convertida em 0 a 100 pts · peso 20% na nota final</a:t>
            </a:r>
          </a:p>
        </p:txBody>
      </p:sp>
      <p:sp>
        <p:nvSpPr>
          <p:cNvPr id="4" name="CardEscala"/>
          <p:cNvSpPr/>
          <p:nvPr/>
        </p:nvSpPr>
        <p:spPr>
          <a:xfrm>
            <a:off x="457200" y="1280160"/>
            <a:ext cx="3657600" cy="3475872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/>
            </a:solidFill>
          </a:ln>
        </p:spPr>
        <p:txBody>
          <a:bodyPr wrap="square" lIns="228600" tIns="182880" rIns="228600" rtlCol="0" anchor="t"/>
          <a:lstStyle/>
          <a:p>
            <a:pPr marL="0" indent="0">
              <a:buNone/>
            </a:pPr>
            <a:r>
              <a:rPr lang="pt-BR" sz="1300" b="1" dirty="0">
                <a:solidFill>
                  <a:srgbClr val="F5A623"/>
                </a:solidFill>
              </a:rPr>
              <a:t>Escala de avaliação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100" b="1" dirty="0">
                <a:solidFill>
                  <a:srgbClr val="CADCFC"/>
                </a:solidFill>
              </a:rPr>
              <a:t>0 — </a:t>
            </a:r>
            <a:r>
              <a:rPr lang="pt-BR" sz="1100" dirty="0">
                <a:solidFill>
                  <a:srgbClr val="CADCFC"/>
                </a:solidFill>
              </a:rPr>
              <a:t>Nenhum ganho intangível identificável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1100" b="1" dirty="0">
                <a:solidFill>
                  <a:srgbClr val="EF9F27"/>
                </a:solidFill>
              </a:rPr>
              <a:t>1 — </a:t>
            </a:r>
            <a:r>
              <a:rPr lang="pt-BR" sz="1100" dirty="0">
                <a:solidFill>
                  <a:srgbClr val="CADCFC"/>
                </a:solidFill>
              </a:rPr>
              <a:t>Ganho leve, pontual, difícil de perceber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1100" b="1" dirty="0">
                <a:solidFill>
                  <a:srgbClr val="EF9F27"/>
                </a:solidFill>
              </a:rPr>
              <a:t>2 — </a:t>
            </a:r>
            <a:r>
              <a:rPr lang="pt-BR" sz="1100" dirty="0">
                <a:solidFill>
                  <a:srgbClr val="CADCFC"/>
                </a:solidFill>
              </a:rPr>
              <a:t>Melhoria percebida, mas não transformadora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1100" b="1" dirty="0">
                <a:solidFill>
                  <a:srgbClr val="BA7517"/>
                </a:solidFill>
              </a:rPr>
              <a:t>3 — </a:t>
            </a:r>
            <a:r>
              <a:rPr lang="pt-BR" sz="1100" dirty="0">
                <a:solidFill>
                  <a:srgbClr val="CADCFC"/>
                </a:solidFill>
              </a:rPr>
              <a:t>Impacto claro, equipe/cliente nota a diferença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1100" b="1" dirty="0">
                <a:solidFill>
                  <a:srgbClr val="854F0B"/>
                </a:solidFill>
              </a:rPr>
              <a:t>4 — </a:t>
            </a:r>
            <a:r>
              <a:rPr lang="pt-BR" sz="1100" dirty="0">
                <a:solidFill>
                  <a:srgbClr val="CADCFC"/>
                </a:solidFill>
              </a:rPr>
              <a:t>Mudança expressiva de qualidade ou cultura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1100" b="1" dirty="0">
                <a:solidFill>
                  <a:srgbClr val="F5A623"/>
                </a:solidFill>
              </a:rPr>
              <a:t>5 — </a:t>
            </a:r>
            <a:r>
              <a:rPr lang="pt-BR" sz="1100" dirty="0">
                <a:solidFill>
                  <a:srgbClr val="FFFFFF"/>
                </a:solidFill>
              </a:rPr>
              <a:t>Transformação visível, referência para a empresa</a:t>
            </a:r>
          </a:p>
        </p:txBody>
      </p:sp>
      <p:sp>
        <p:nvSpPr>
          <p:cNvPr id="5" name="CardGanhos"/>
          <p:cNvSpPr/>
          <p:nvPr/>
        </p:nvSpPr>
        <p:spPr>
          <a:xfrm>
            <a:off x="4297200" y="1280160"/>
            <a:ext cx="4389600" cy="3475872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 w="12700">
            <a:solidFill>
              <a:srgbClr val="2A3A80"/>
            </a:solidFill>
          </a:ln>
        </p:spPr>
        <p:txBody>
          <a:bodyPr wrap="square" lIns="228600" tIns="182880" rIns="228600" rtlCol="0" anchor="t"/>
          <a:lstStyle/>
          <a:p>
            <a:pPr marL="0" indent="0">
              <a:buNone/>
            </a:pPr>
            <a:r>
              <a:rPr lang="pt-BR" sz="1300" b="1" dirty="0">
                <a:solidFill>
                  <a:srgbClr val="F5A623"/>
                </a:solidFill>
              </a:rPr>
              <a:t>Ganhos intangíveis possíveis</a:t>
            </a:r>
          </a:p>
          <a:p>
            <a:pPr marL="0" indent="0">
              <a:buNone/>
            </a:pPr>
            <a:r>
              <a:rPr lang="pt-BR" sz="900" i="1" dirty="0">
                <a:solidFill>
                  <a:srgbClr val="CADCFC"/>
                </a:solidFill>
              </a:rPr>
              <a:t>Colaborador seleciona os que se aplicam ao projeto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Pessoas e cultura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Satisfação da equipe · Aprendizado e capacitação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Redução de estresse · Cultura de inovação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Engajamento · Colaboração entre times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Qualidade e operação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Redução de erros · Agilidade nos processos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Consistência · Satisfação do cliente · Maturidade analítica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Visibilidade e transparência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000" b="1" dirty="0">
                <a:solidFill>
                  <a:srgbClr val="CADCFC"/>
                </a:solidFill>
              </a:rPr>
              <a:t>Estratégia e reputação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Imagem da empresa · Vantagem competitiva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Replicabilidade · Redução de risco operacional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Retenção de talentos · Escalabilidade</a:t>
            </a:r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projeto inscrito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Produtividade e Eficiência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Automação de relatório semanal de fechamento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Ana Lima · Operações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</a:rPr>
              <a:t>Retorno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Financeiro</a:t>
            </a:r>
            <a:r>
              <a:rPr lang="en-US" sz="1000" dirty="0">
                <a:solidFill>
                  <a:srgbClr val="64748B"/>
                </a:solidFill>
              </a:rPr>
              <a:t> (R$)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R$ 14k/mês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85416" y="2606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185416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</a:rPr>
              <a:t>Retorno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Intangivel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85416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pt-BR" sz="1800" b="1" dirty="0">
                <a:solidFill>
                  <a:srgbClr val="1E2761"/>
                </a:solidFill>
              </a:rPr>
              <a:t>4 / 5</a:t>
            </a:r>
          </a:p>
          <a:p>
            <a:pPr marL="0" indent="0" algn="ctr">
              <a:buNone/>
            </a:pPr>
            <a:r>
              <a:rPr lang="pt-BR" sz="750" dirty="0">
                <a:solidFill>
                  <a:srgbClr val="64748B"/>
                </a:solidFill>
              </a:rPr>
              <a:t>Redução de estresse · Agilidade</a:t>
            </a:r>
          </a:p>
        </p:txBody>
      </p:sp>
      <p:sp>
        <p:nvSpPr>
          <p:cNvPr id="16" name="Shape 14"/>
          <p:cNvSpPr/>
          <p:nvPr/>
        </p:nvSpPr>
        <p:spPr>
          <a:xfrm>
            <a:off x="3776472" y="2606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776472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Impacto (0–5)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76472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4,5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67528" y="2606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67528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Alcance (0–5)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67528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4,0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58584" y="2606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958584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Pontualidade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58584" y="2944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100%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0" y="1298448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89888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5800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93 pts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858000" y="1810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pontuação final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3749040"/>
            <a:ext cx="7955280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777240" y="37490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Justificativa: </a:t>
            </a:r>
            <a:r>
              <a:rPr lang="en-US" sz="1100" dirty="0">
                <a:solidFill>
                  <a:srgbClr val="64748B"/>
                </a:solidFill>
              </a:rPr>
              <a:t>O relatório de fechamento semanal era manual, consumindo 4h de trabalho toda sexta. Com Claude, foi criado um agente que extrai, consolida e formata os dados automaticamente em menos de 10 minutos.</a:t>
            </a:r>
            <a:endParaRPr lang="en-US" sz="11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1326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</a:rPr>
              <a:t>Ranking Global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73152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i="1" dirty="0">
                <a:solidFill>
                  <a:srgbClr val="CADCFC"/>
                </a:solidFill>
              </a:rPr>
              <a:t>Todos os projetos · Ciclo 1 · Junho 2026</a:t>
            </a:r>
          </a:p>
        </p:txBody>
      </p:sp>
      <p:pic>
        <p:nvPicPr>
          <p:cNvPr id="4" name="Tro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65176"/>
            <a:ext cx="457200" cy="457200"/>
          </a:xfrm>
          <a:prstGeom prst="rect">
            <a:avLst/>
          </a:prstGeom>
        </p:spPr>
      </p:pic>
      <p:sp>
        <p:nvSpPr>
          <p:cNvPr id="10" name="HeaderBg"/>
          <p:cNvSpPr/>
          <p:nvPr/>
        </p:nvSpPr>
        <p:spPr>
          <a:xfrm>
            <a:off x="18288" y="1097280"/>
            <a:ext cx="9144000" cy="320040"/>
          </a:xfrm>
          <a:prstGeom prst="roundRect">
            <a:avLst>
              <a:gd name="adj" fmla="val 8000"/>
            </a:avLst>
          </a:prstGeom>
          <a:solidFill>
            <a:srgbClr val="2A3A80"/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H0"/>
          <p:cNvSpPr/>
          <p:nvPr/>
        </p:nvSpPr>
        <p:spPr>
          <a:xfrm>
            <a:off x="320040" y="1097280"/>
            <a:ext cx="4000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CADCFC"/>
                </a:solidFill>
              </a:rPr>
              <a:t>#</a:t>
            </a:r>
          </a:p>
        </p:txBody>
      </p:sp>
      <p:sp>
        <p:nvSpPr>
          <p:cNvPr id="12" name="H1"/>
          <p:cNvSpPr/>
          <p:nvPr/>
        </p:nvSpPr>
        <p:spPr>
          <a:xfrm>
            <a:off x="72009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b="1" dirty="0">
                <a:solidFill>
                  <a:srgbClr val="CADCFC"/>
                </a:solidFill>
              </a:rPr>
              <a:t>Colaborador</a:t>
            </a:r>
          </a:p>
        </p:txBody>
      </p:sp>
      <p:sp>
        <p:nvSpPr>
          <p:cNvPr id="13" name="H2"/>
          <p:cNvSpPr/>
          <p:nvPr/>
        </p:nvSpPr>
        <p:spPr>
          <a:xfrm>
            <a:off x="2274570" y="1097280"/>
            <a:ext cx="110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CADCFC"/>
                </a:solidFill>
              </a:rPr>
              <a:t>Tangível</a:t>
            </a:r>
          </a:p>
        </p:txBody>
      </p:sp>
      <p:sp>
        <p:nvSpPr>
          <p:cNvPr id="14" name="H3"/>
          <p:cNvSpPr/>
          <p:nvPr/>
        </p:nvSpPr>
        <p:spPr>
          <a:xfrm>
            <a:off x="3375090" y="1097280"/>
            <a:ext cx="110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CADCFC"/>
                </a:solidFill>
              </a:rPr>
              <a:t>Intangível</a:t>
            </a:r>
          </a:p>
        </p:txBody>
      </p:sp>
      <p:sp>
        <p:nvSpPr>
          <p:cNvPr id="15" name="H4"/>
          <p:cNvSpPr/>
          <p:nvPr/>
        </p:nvSpPr>
        <p:spPr>
          <a:xfrm>
            <a:off x="4475610" y="1097280"/>
            <a:ext cx="100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CADCFC"/>
                </a:solidFill>
              </a:rPr>
              <a:t>Impacto</a:t>
            </a:r>
          </a:p>
        </p:txBody>
      </p:sp>
      <p:sp>
        <p:nvSpPr>
          <p:cNvPr id="16" name="H5"/>
          <p:cNvSpPr/>
          <p:nvPr/>
        </p:nvSpPr>
        <p:spPr>
          <a:xfrm>
            <a:off x="5476050" y="1097280"/>
            <a:ext cx="100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CADCFC"/>
                </a:solidFill>
              </a:rPr>
              <a:t>Alcance</a:t>
            </a:r>
          </a:p>
        </p:txBody>
      </p:sp>
      <p:sp>
        <p:nvSpPr>
          <p:cNvPr id="17" name="H6"/>
          <p:cNvSpPr/>
          <p:nvPr/>
        </p:nvSpPr>
        <p:spPr>
          <a:xfrm>
            <a:off x="6476490" y="1097280"/>
            <a:ext cx="11501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CADCFC"/>
                </a:solidFill>
              </a:rPr>
              <a:t>Pontual.</a:t>
            </a:r>
          </a:p>
        </p:txBody>
      </p:sp>
      <p:sp>
        <p:nvSpPr>
          <p:cNvPr id="18" name="H7"/>
          <p:cNvSpPr/>
          <p:nvPr/>
        </p:nvSpPr>
        <p:spPr>
          <a:xfrm>
            <a:off x="7626600" y="1097280"/>
            <a:ext cx="7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00" b="1" dirty="0">
                <a:solidFill>
                  <a:srgbClr val="CADCFC"/>
                </a:solidFill>
              </a:rPr>
              <a:t>Pts</a:t>
            </a:r>
          </a:p>
        </p:txBody>
      </p:sp>
      <p:sp>
        <p:nvSpPr>
          <p:cNvPr id="20" name="R1bg"/>
          <p:cNvSpPr/>
          <p:nvPr/>
        </p:nvSpPr>
        <p:spPr>
          <a:xfrm>
            <a:off x="18288" y="1463040"/>
            <a:ext cx="9144000" cy="500760"/>
          </a:xfrm>
          <a:prstGeom prst="roundRect">
            <a:avLst>
              <a:gd name="adj" fmla="val 8000"/>
            </a:avLst>
          </a:prstGeom>
          <a:solidFill>
            <a:srgbClr val="2A3A80"/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1c0"/>
          <p:cNvSpPr/>
          <p:nvPr/>
        </p:nvSpPr>
        <p:spPr>
          <a:xfrm>
            <a:off x="320040" y="1463040"/>
            <a:ext cx="40005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F5A623"/>
                </a:solidFill>
              </a:rPr>
              <a:t>1º</a:t>
            </a:r>
          </a:p>
        </p:txBody>
      </p:sp>
      <p:sp>
        <p:nvSpPr>
          <p:cNvPr id="22" name="R1c1"/>
          <p:cNvSpPr/>
          <p:nvPr/>
        </p:nvSpPr>
        <p:spPr>
          <a:xfrm>
            <a:off x="720090" y="1463040"/>
            <a:ext cx="155448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b="1" dirty="0">
                <a:solidFill>
                  <a:srgbClr val="F5A623"/>
                </a:solidFill>
              </a:rPr>
              <a:t>Ana Lima</a:t>
            </a:r>
          </a:p>
        </p:txBody>
      </p:sp>
      <p:sp>
        <p:nvSpPr>
          <p:cNvPr id="23" name="R1c2"/>
          <p:cNvSpPr/>
          <p:nvPr/>
        </p:nvSpPr>
        <p:spPr>
          <a:xfrm>
            <a:off x="2274570" y="146304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FFFFFF"/>
                </a:solidFill>
              </a:rPr>
              <a:t>R$ 14k/mês</a:t>
            </a:r>
          </a:p>
        </p:txBody>
      </p:sp>
      <p:sp>
        <p:nvSpPr>
          <p:cNvPr id="24" name="R1c3"/>
          <p:cNvSpPr/>
          <p:nvPr/>
        </p:nvSpPr>
        <p:spPr>
          <a:xfrm>
            <a:off x="3375090" y="146304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FFFFFF"/>
                </a:solidFill>
              </a:rPr>
              <a:t>4 / 5</a:t>
            </a:r>
          </a:p>
        </p:txBody>
      </p:sp>
      <p:sp>
        <p:nvSpPr>
          <p:cNvPr id="25" name="R1c4"/>
          <p:cNvSpPr/>
          <p:nvPr/>
        </p:nvSpPr>
        <p:spPr>
          <a:xfrm>
            <a:off x="4475610" y="146304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FFFFFF"/>
                </a:solidFill>
              </a:rPr>
              <a:t>4,5</a:t>
            </a:r>
          </a:p>
        </p:txBody>
      </p:sp>
      <p:sp>
        <p:nvSpPr>
          <p:cNvPr id="26" name="R1c5"/>
          <p:cNvSpPr/>
          <p:nvPr/>
        </p:nvSpPr>
        <p:spPr>
          <a:xfrm>
            <a:off x="5476050" y="146304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FFFFFF"/>
                </a:solidFill>
              </a:rPr>
              <a:t>4,0</a:t>
            </a:r>
          </a:p>
        </p:txBody>
      </p:sp>
      <p:sp>
        <p:nvSpPr>
          <p:cNvPr id="27" name="R1c6"/>
          <p:cNvSpPr/>
          <p:nvPr/>
        </p:nvSpPr>
        <p:spPr>
          <a:xfrm>
            <a:off x="6476490" y="1463040"/>
            <a:ext cx="115011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28" name="R1c7"/>
          <p:cNvSpPr/>
          <p:nvPr/>
        </p:nvSpPr>
        <p:spPr>
          <a:xfrm>
            <a:off x="7626600" y="1463040"/>
            <a:ext cx="7603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600" b="1" dirty="0">
                <a:solidFill>
                  <a:srgbClr val="F5A623"/>
                </a:solidFill>
              </a:rPr>
              <a:t>93</a:t>
            </a:r>
          </a:p>
        </p:txBody>
      </p:sp>
      <p:sp>
        <p:nvSpPr>
          <p:cNvPr id="30" name="R2bg"/>
          <p:cNvSpPr/>
          <p:nvPr/>
        </p:nvSpPr>
        <p:spPr>
          <a:xfrm>
            <a:off x="18288" y="2007360"/>
            <a:ext cx="9144000" cy="500760"/>
          </a:xfrm>
          <a:prstGeom prst="roundRect">
            <a:avLst>
              <a:gd name="adj" fmla="val 8000"/>
            </a:avLst>
          </a:prstGeom>
          <a:solidFill>
            <a:srgbClr val="192860"/>
          </a:solidFill>
          <a:ln>
            <a:solidFill>
              <a:srgbClr val="19286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R2c0"/>
          <p:cNvSpPr/>
          <p:nvPr/>
        </p:nvSpPr>
        <p:spPr>
          <a:xfrm>
            <a:off x="320040" y="2007360"/>
            <a:ext cx="40005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FFFFFF"/>
                </a:solidFill>
              </a:rPr>
              <a:t>2º</a:t>
            </a:r>
          </a:p>
        </p:txBody>
      </p:sp>
      <p:sp>
        <p:nvSpPr>
          <p:cNvPr id="32" name="R2c1"/>
          <p:cNvSpPr/>
          <p:nvPr/>
        </p:nvSpPr>
        <p:spPr>
          <a:xfrm>
            <a:off x="720090" y="2007360"/>
            <a:ext cx="155448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Rafael Costa</a:t>
            </a:r>
          </a:p>
        </p:txBody>
      </p:sp>
      <p:sp>
        <p:nvSpPr>
          <p:cNvPr id="33" name="R2c2"/>
          <p:cNvSpPr/>
          <p:nvPr/>
        </p:nvSpPr>
        <p:spPr>
          <a:xfrm>
            <a:off x="2274570" y="200736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R$ 8k/mês</a:t>
            </a:r>
          </a:p>
        </p:txBody>
      </p:sp>
      <p:sp>
        <p:nvSpPr>
          <p:cNvPr id="34" name="R2c3"/>
          <p:cNvSpPr/>
          <p:nvPr/>
        </p:nvSpPr>
        <p:spPr>
          <a:xfrm>
            <a:off x="3375090" y="200736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3 / 5</a:t>
            </a:r>
          </a:p>
        </p:txBody>
      </p:sp>
      <p:sp>
        <p:nvSpPr>
          <p:cNvPr id="35" name="R2c4"/>
          <p:cNvSpPr/>
          <p:nvPr/>
        </p:nvSpPr>
        <p:spPr>
          <a:xfrm>
            <a:off x="4475610" y="200736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4,0</a:t>
            </a:r>
          </a:p>
        </p:txBody>
      </p:sp>
      <p:sp>
        <p:nvSpPr>
          <p:cNvPr id="36" name="R2c5"/>
          <p:cNvSpPr/>
          <p:nvPr/>
        </p:nvSpPr>
        <p:spPr>
          <a:xfrm>
            <a:off x="5476050" y="200736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3,5</a:t>
            </a:r>
          </a:p>
        </p:txBody>
      </p:sp>
      <p:sp>
        <p:nvSpPr>
          <p:cNvPr id="37" name="R2c6"/>
          <p:cNvSpPr/>
          <p:nvPr/>
        </p:nvSpPr>
        <p:spPr>
          <a:xfrm>
            <a:off x="6476490" y="2007360"/>
            <a:ext cx="115011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38" name="R2c7"/>
          <p:cNvSpPr/>
          <p:nvPr/>
        </p:nvSpPr>
        <p:spPr>
          <a:xfrm>
            <a:off x="7626600" y="2007360"/>
            <a:ext cx="7603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600" b="1" dirty="0">
                <a:solidFill>
                  <a:srgbClr val="FFFFFF"/>
                </a:solidFill>
              </a:rPr>
              <a:t>85</a:t>
            </a:r>
          </a:p>
        </p:txBody>
      </p:sp>
      <p:sp>
        <p:nvSpPr>
          <p:cNvPr id="40" name="R3bg"/>
          <p:cNvSpPr/>
          <p:nvPr/>
        </p:nvSpPr>
        <p:spPr>
          <a:xfrm>
            <a:off x="18288" y="2551680"/>
            <a:ext cx="9144000" cy="500760"/>
          </a:xfrm>
          <a:prstGeom prst="roundRect">
            <a:avLst>
              <a:gd name="adj" fmla="val 8000"/>
            </a:avLst>
          </a:prstGeom>
          <a:solidFill>
            <a:srgbClr val="1E3070"/>
          </a:solidFill>
          <a:ln>
            <a:solidFill>
              <a:srgbClr val="1E307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R3c0"/>
          <p:cNvSpPr/>
          <p:nvPr/>
        </p:nvSpPr>
        <p:spPr>
          <a:xfrm>
            <a:off x="320040" y="2551680"/>
            <a:ext cx="40005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FFFFFF"/>
                </a:solidFill>
              </a:rPr>
              <a:t>3º</a:t>
            </a:r>
          </a:p>
        </p:txBody>
      </p:sp>
      <p:sp>
        <p:nvSpPr>
          <p:cNvPr id="42" name="R3c1"/>
          <p:cNvSpPr/>
          <p:nvPr/>
        </p:nvSpPr>
        <p:spPr>
          <a:xfrm>
            <a:off x="720090" y="2551680"/>
            <a:ext cx="155448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Julia Santos</a:t>
            </a:r>
          </a:p>
        </p:txBody>
      </p:sp>
      <p:sp>
        <p:nvSpPr>
          <p:cNvPr id="43" name="R3c2"/>
          <p:cNvSpPr/>
          <p:nvPr/>
        </p:nvSpPr>
        <p:spPr>
          <a:xfrm>
            <a:off x="2274570" y="255168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R$ 22k/ciclo</a:t>
            </a:r>
          </a:p>
        </p:txBody>
      </p:sp>
      <p:sp>
        <p:nvSpPr>
          <p:cNvPr id="44" name="R3c3"/>
          <p:cNvSpPr/>
          <p:nvPr/>
        </p:nvSpPr>
        <p:spPr>
          <a:xfrm>
            <a:off x="3375090" y="255168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4 / 5</a:t>
            </a:r>
          </a:p>
        </p:txBody>
      </p:sp>
      <p:sp>
        <p:nvSpPr>
          <p:cNvPr id="45" name="R3c4"/>
          <p:cNvSpPr/>
          <p:nvPr/>
        </p:nvSpPr>
        <p:spPr>
          <a:xfrm>
            <a:off x="4475610" y="255168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3,5</a:t>
            </a:r>
          </a:p>
        </p:txBody>
      </p:sp>
      <p:sp>
        <p:nvSpPr>
          <p:cNvPr id="46" name="R3c5"/>
          <p:cNvSpPr/>
          <p:nvPr/>
        </p:nvSpPr>
        <p:spPr>
          <a:xfrm>
            <a:off x="5476050" y="255168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3,0</a:t>
            </a:r>
          </a:p>
        </p:txBody>
      </p:sp>
      <p:sp>
        <p:nvSpPr>
          <p:cNvPr id="47" name="R3c6"/>
          <p:cNvSpPr/>
          <p:nvPr/>
        </p:nvSpPr>
        <p:spPr>
          <a:xfrm>
            <a:off x="6476490" y="2551680"/>
            <a:ext cx="115011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48" name="R3c7"/>
          <p:cNvSpPr/>
          <p:nvPr/>
        </p:nvSpPr>
        <p:spPr>
          <a:xfrm>
            <a:off x="7626600" y="2551680"/>
            <a:ext cx="7603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600" b="1" dirty="0">
                <a:solidFill>
                  <a:srgbClr val="FFFFFF"/>
                </a:solidFill>
              </a:rPr>
              <a:t>78</a:t>
            </a:r>
          </a:p>
        </p:txBody>
      </p:sp>
      <p:sp>
        <p:nvSpPr>
          <p:cNvPr id="50" name="R4bg"/>
          <p:cNvSpPr/>
          <p:nvPr/>
        </p:nvSpPr>
        <p:spPr>
          <a:xfrm>
            <a:off x="18288" y="3096000"/>
            <a:ext cx="9144000" cy="500760"/>
          </a:xfrm>
          <a:prstGeom prst="roundRect">
            <a:avLst>
              <a:gd name="adj" fmla="val 8000"/>
            </a:avLst>
          </a:prstGeom>
          <a:solidFill>
            <a:srgbClr val="192860"/>
          </a:solidFill>
          <a:ln>
            <a:solidFill>
              <a:srgbClr val="19286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" name="R4c0"/>
          <p:cNvSpPr/>
          <p:nvPr/>
        </p:nvSpPr>
        <p:spPr>
          <a:xfrm>
            <a:off x="320040" y="3096000"/>
            <a:ext cx="40005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R4c1"/>
          <p:cNvSpPr/>
          <p:nvPr/>
        </p:nvSpPr>
        <p:spPr>
          <a:xfrm>
            <a:off x="720090" y="3096000"/>
            <a:ext cx="155448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Pedro Melo</a:t>
            </a:r>
          </a:p>
        </p:txBody>
      </p:sp>
      <p:sp>
        <p:nvSpPr>
          <p:cNvPr id="53" name="R4c2"/>
          <p:cNvSpPr/>
          <p:nvPr/>
        </p:nvSpPr>
        <p:spPr>
          <a:xfrm>
            <a:off x="2274570" y="309600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R$ 6k/mês</a:t>
            </a:r>
          </a:p>
        </p:txBody>
      </p:sp>
      <p:sp>
        <p:nvSpPr>
          <p:cNvPr id="54" name="R4c3"/>
          <p:cNvSpPr/>
          <p:nvPr/>
        </p:nvSpPr>
        <p:spPr>
          <a:xfrm>
            <a:off x="3375090" y="309600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3 / 5</a:t>
            </a:r>
          </a:p>
        </p:txBody>
      </p:sp>
      <p:sp>
        <p:nvSpPr>
          <p:cNvPr id="55" name="R4c4"/>
          <p:cNvSpPr/>
          <p:nvPr/>
        </p:nvSpPr>
        <p:spPr>
          <a:xfrm>
            <a:off x="4475610" y="309600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4,0</a:t>
            </a:r>
          </a:p>
        </p:txBody>
      </p:sp>
      <p:sp>
        <p:nvSpPr>
          <p:cNvPr id="56" name="R4c5"/>
          <p:cNvSpPr/>
          <p:nvPr/>
        </p:nvSpPr>
        <p:spPr>
          <a:xfrm>
            <a:off x="5476050" y="309600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4,5</a:t>
            </a:r>
          </a:p>
        </p:txBody>
      </p:sp>
      <p:sp>
        <p:nvSpPr>
          <p:cNvPr id="57" name="R4c6"/>
          <p:cNvSpPr/>
          <p:nvPr/>
        </p:nvSpPr>
        <p:spPr>
          <a:xfrm>
            <a:off x="6476490" y="3096000"/>
            <a:ext cx="115011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58" name="R4c7"/>
          <p:cNvSpPr/>
          <p:nvPr/>
        </p:nvSpPr>
        <p:spPr>
          <a:xfrm>
            <a:off x="7626600" y="3096000"/>
            <a:ext cx="7603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600" b="1" dirty="0">
                <a:solidFill>
                  <a:srgbClr val="FFFFFF"/>
                </a:solidFill>
              </a:rPr>
              <a:t>74</a:t>
            </a:r>
          </a:p>
        </p:txBody>
      </p:sp>
      <p:sp>
        <p:nvSpPr>
          <p:cNvPr id="60" name="R5bg"/>
          <p:cNvSpPr/>
          <p:nvPr/>
        </p:nvSpPr>
        <p:spPr>
          <a:xfrm>
            <a:off x="18288" y="3640320"/>
            <a:ext cx="9144000" cy="500760"/>
          </a:xfrm>
          <a:prstGeom prst="roundRect">
            <a:avLst>
              <a:gd name="adj" fmla="val 8000"/>
            </a:avLst>
          </a:prstGeom>
          <a:solidFill>
            <a:srgbClr val="1E3070"/>
          </a:solidFill>
          <a:ln>
            <a:solidFill>
              <a:srgbClr val="1E307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1" name="R5c0"/>
          <p:cNvSpPr/>
          <p:nvPr/>
        </p:nvSpPr>
        <p:spPr>
          <a:xfrm>
            <a:off x="320040" y="3640320"/>
            <a:ext cx="40005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R5c1"/>
          <p:cNvSpPr/>
          <p:nvPr/>
        </p:nvSpPr>
        <p:spPr>
          <a:xfrm>
            <a:off x="720090" y="3640320"/>
            <a:ext cx="155448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FFFFFF"/>
                </a:solidFill>
              </a:rPr>
              <a:t>Carla Ferreira</a:t>
            </a:r>
          </a:p>
        </p:txBody>
      </p:sp>
      <p:sp>
        <p:nvSpPr>
          <p:cNvPr id="63" name="R5c2"/>
          <p:cNvSpPr/>
          <p:nvPr/>
        </p:nvSpPr>
        <p:spPr>
          <a:xfrm>
            <a:off x="2274570" y="364032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R$ 5k/mês</a:t>
            </a:r>
          </a:p>
        </p:txBody>
      </p:sp>
      <p:sp>
        <p:nvSpPr>
          <p:cNvPr id="64" name="R5c3"/>
          <p:cNvSpPr/>
          <p:nvPr/>
        </p:nvSpPr>
        <p:spPr>
          <a:xfrm>
            <a:off x="3375090" y="3640320"/>
            <a:ext cx="11005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2 / 5</a:t>
            </a:r>
          </a:p>
        </p:txBody>
      </p:sp>
      <p:sp>
        <p:nvSpPr>
          <p:cNvPr id="65" name="R5c4"/>
          <p:cNvSpPr/>
          <p:nvPr/>
        </p:nvSpPr>
        <p:spPr>
          <a:xfrm>
            <a:off x="4475610" y="364032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3,0</a:t>
            </a:r>
          </a:p>
        </p:txBody>
      </p:sp>
      <p:sp>
        <p:nvSpPr>
          <p:cNvPr id="66" name="R5c5"/>
          <p:cNvSpPr/>
          <p:nvPr/>
        </p:nvSpPr>
        <p:spPr>
          <a:xfrm>
            <a:off x="5476050" y="3640320"/>
            <a:ext cx="100044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CADCFC"/>
                </a:solidFill>
              </a:rPr>
              <a:t>2,5</a:t>
            </a:r>
          </a:p>
        </p:txBody>
      </p:sp>
      <p:sp>
        <p:nvSpPr>
          <p:cNvPr id="67" name="R5c6"/>
          <p:cNvSpPr/>
          <p:nvPr/>
        </p:nvSpPr>
        <p:spPr>
          <a:xfrm>
            <a:off x="6476490" y="3640320"/>
            <a:ext cx="115011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dirty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68" name="R5c7"/>
          <p:cNvSpPr/>
          <p:nvPr/>
        </p:nvSpPr>
        <p:spPr>
          <a:xfrm>
            <a:off x="7626600" y="3640320"/>
            <a:ext cx="760320" cy="50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1600" b="1" dirty="0">
                <a:solidFill>
                  <a:srgbClr val="FFFFFF"/>
                </a:solidFill>
              </a:rPr>
              <a:t>68</a:t>
            </a:r>
          </a:p>
        </p:txBody>
      </p:sp>
      <p:sp>
        <p:nvSpPr>
          <p:cNvPr id="99" name="Footer"/>
          <p:cNvSpPr/>
          <p:nvPr/>
        </p:nvSpPr>
        <p:spPr>
          <a:xfrm>
            <a:off x="274320" y="4232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i="1" dirty="0">
                <a:solidFill>
                  <a:srgbClr val="CADCFC"/>
                </a:solidFill>
              </a:rPr>
              <a:t>12 projetos inscritos · 5 áreas participantes · R$ 94k de retorno total estimado</a:t>
            </a:r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por categoria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365760" cy="10972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50876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Produtividade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Ana Lima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1828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Automação de relatório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68496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366F1"/>
                </a:solidFill>
              </a:rPr>
              <a:t>93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931920" y="1856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pts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4231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371600" y="2423160"/>
            <a:ext cx="36576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74320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Qualidade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8288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Marcos Freitas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828800" y="3063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de dados em tempo real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68496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EA5E9"/>
                </a:solidFill>
              </a:rPr>
              <a:t>71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3931920" y="30906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pts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" y="365760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365760" y="3657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1371600" y="3657600"/>
            <a:ext cx="36576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97764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82880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Exp. Cliente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8288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Pedro Melo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828800" y="42976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Chatbot interno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968496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59E0B"/>
                </a:solidFill>
              </a:rPr>
              <a:t>74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3931920" y="4325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pts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54880" y="118872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7"/>
          <p:cNvSpPr/>
          <p:nvPr/>
        </p:nvSpPr>
        <p:spPr>
          <a:xfrm>
            <a:off x="4754880" y="11887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8"/>
          <p:cNvSpPr/>
          <p:nvPr/>
        </p:nvSpPr>
        <p:spPr>
          <a:xfrm>
            <a:off x="5760720" y="1188720"/>
            <a:ext cx="36576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508760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2179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Inovação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2179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Julia Santos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217920" y="1828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Propostas c/ IA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357616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0B981"/>
                </a:solidFill>
              </a:rPr>
              <a:t>78</a:t>
            </a:r>
            <a:endParaRPr lang="en-US" sz="2400" dirty="0"/>
          </a:p>
        </p:txBody>
      </p:sp>
      <p:sp>
        <p:nvSpPr>
          <p:cNvPr id="39" name="Text 33"/>
          <p:cNvSpPr/>
          <p:nvPr/>
        </p:nvSpPr>
        <p:spPr>
          <a:xfrm>
            <a:off x="8321040" y="1856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pts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754880" y="24231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5"/>
          <p:cNvSpPr/>
          <p:nvPr/>
        </p:nvSpPr>
        <p:spPr>
          <a:xfrm>
            <a:off x="4754880" y="24231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6"/>
          <p:cNvSpPr/>
          <p:nvPr/>
        </p:nvSpPr>
        <p:spPr>
          <a:xfrm>
            <a:off x="5760720" y="2423160"/>
            <a:ext cx="36576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743200"/>
            <a:ext cx="402336" cy="40233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Redução de Custos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2179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Lara Mendes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6217920" y="3063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Otimização de escala logística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8357616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F4444"/>
                </a:solidFill>
              </a:rPr>
              <a:t>65</a:t>
            </a:r>
            <a:endParaRPr lang="en-US" sz="2400" dirty="0"/>
          </a:p>
        </p:txBody>
      </p:sp>
      <p:sp>
        <p:nvSpPr>
          <p:cNvPr id="48" name="Text 41"/>
          <p:cNvSpPr/>
          <p:nvPr/>
        </p:nvSpPr>
        <p:spPr>
          <a:xfrm>
            <a:off x="8321040" y="30906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pts</a:t>
            </a:r>
            <a:endParaRPr lang="en-US" sz="10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1326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A3A80">
              <a:alpha val="50000"/>
            </a:srgbClr>
          </a:solidFill>
          <a:ln w="12700">
            <a:solidFill>
              <a:srgbClr val="2A3A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Calendário do Ciclo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75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80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Abertura das inscrições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645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Divulgação do programa, formulário e critérios para todos os colaboradores.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1453896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A623">
              <a:alpha val="9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0" y="14538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14/07/2026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03911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75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093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Prazo de inscrição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23591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Prazo final para submissão dos projetos. Colaboradores definem seu deadline.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583680" y="216712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A623">
              <a:alpha val="9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658368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01/11/2026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75234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75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620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Execução dos projetos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97280" y="30723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Equipes executam os projetos com suporte disponível dos gestores.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83680" y="28803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A623">
              <a:alpha val="9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6583680" y="2880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E2761"/>
                </a:solidFill>
              </a:rPr>
              <a:t>Diariamente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46557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75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75304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Avaliação dos resultados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97280" y="3785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Retorno real registrado. Gestor pontua impacto e alcance de cada projeto.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583680" y="359359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A623">
              <a:alpha val="9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6583680" y="3593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E2761"/>
                </a:solidFill>
              </a:rPr>
              <a:t>Semanal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17880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A3A80">
              <a:alpha val="75000"/>
            </a:srgbClr>
          </a:solidFill>
          <a:ln w="12700">
            <a:solidFill>
              <a:srgbClr val="2A3A8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8853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4233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Publicação do ranking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097280" y="44988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Ranking global e por categoria divulgado. Reconhecimento público da equipe.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583680" y="4306824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5A623">
              <a:alpha val="9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/>
          <p:nvPr/>
        </p:nvSpPr>
        <p:spPr>
          <a:xfrm>
            <a:off x="6583680" y="43068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Tempo Real</a:t>
            </a:r>
            <a:endParaRPr lang="en-US" sz="11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  <p:sp>
        <p:nvSpPr>
          <p:cNvPr id="2" name="Title"/>
          <p:cNvSpPr/>
          <p:nvPr/>
        </p:nvSpPr>
        <p:spPr>
          <a:xfrm>
            <a:off x="457200" y="228600"/>
            <a:ext cx="700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  <a:latin typeface="Cambria" pitchFamily="34" charset="0"/>
              </a:rPr>
              <a:t>Regras gerais do programa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731520"/>
            <a:ext cx="7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i="1" dirty="0">
                <a:solidFill>
                  <a:srgbClr val="CADCFC"/>
                </a:solidFill>
              </a:rPr>
              <a:t>O que vale para todos os colaboradores</a:t>
            </a:r>
          </a:p>
        </p:txBody>
      </p:sp>
      <p:sp>
        <p:nvSpPr>
          <p:cNvPr id="10" name="R1bg"/>
          <p:cNvSpPr/>
          <p:nvPr/>
        </p:nvSpPr>
        <p:spPr>
          <a:xfrm>
            <a:off x="274320" y="1097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1badge"/>
          <p:cNvSpPr/>
          <p:nvPr/>
        </p:nvSpPr>
        <p:spPr>
          <a:xfrm>
            <a:off x="320040" y="1124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R1txt"/>
          <p:cNvSpPr/>
          <p:nvPr/>
        </p:nvSpPr>
        <p:spPr>
          <a:xfrm>
            <a:off x="502920" y="1097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Acesso ao Claude vinculado a projetos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Colaboradores sem projeto inscrito no ciclo não terão acesso ao Claude no período seguinte.</a:t>
            </a:r>
          </a:p>
        </p:txBody>
      </p:sp>
      <p:sp>
        <p:nvSpPr>
          <p:cNvPr id="20" name="R2bg"/>
          <p:cNvSpPr/>
          <p:nvPr/>
        </p:nvSpPr>
        <p:spPr>
          <a:xfrm>
            <a:off x="274320" y="1700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2badge"/>
          <p:cNvSpPr/>
          <p:nvPr/>
        </p:nvSpPr>
        <p:spPr>
          <a:xfrm>
            <a:off x="320040" y="1727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" name="R2txt"/>
          <p:cNvSpPr/>
          <p:nvPr/>
        </p:nvSpPr>
        <p:spPr>
          <a:xfrm>
            <a:off x="502920" y="1700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Tier definido pelo desempenho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O comitê avalia cada projeto e define se o colaborador terá acesso Basic ou Enterprise no próximo ciclo.</a:t>
            </a:r>
          </a:p>
        </p:txBody>
      </p:sp>
      <p:sp>
        <p:nvSpPr>
          <p:cNvPr id="30" name="R3bg"/>
          <p:cNvSpPr/>
          <p:nvPr/>
        </p:nvSpPr>
        <p:spPr>
          <a:xfrm>
            <a:off x="274320" y="2303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R3badge"/>
          <p:cNvSpPr/>
          <p:nvPr/>
        </p:nvSpPr>
        <p:spPr>
          <a:xfrm>
            <a:off x="320040" y="2330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2" name="R3txt"/>
          <p:cNvSpPr/>
          <p:nvPr/>
        </p:nvSpPr>
        <p:spPr>
          <a:xfrm>
            <a:off x="502920" y="2303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Mínimo de um projeto por ciclo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Cada colaborador deve inscrever pelo menos um projeto por ciclo para manter o acesso ativo.</a:t>
            </a:r>
          </a:p>
        </p:txBody>
      </p:sp>
      <p:sp>
        <p:nvSpPr>
          <p:cNvPr id="40" name="R4bg"/>
          <p:cNvSpPr/>
          <p:nvPr/>
        </p:nvSpPr>
        <p:spPr>
          <a:xfrm>
            <a:off x="274320" y="2906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R4badge"/>
          <p:cNvSpPr/>
          <p:nvPr/>
        </p:nvSpPr>
        <p:spPr>
          <a:xfrm>
            <a:off x="320040" y="2933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2" name="R4txt"/>
          <p:cNvSpPr/>
          <p:nvPr/>
        </p:nvSpPr>
        <p:spPr>
          <a:xfrm>
            <a:off x="502920" y="2906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Retorno real obrigatório após execução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Projetos sem registro de resultado real ao final do prazo são desclassificados automaticamente.</a:t>
            </a:r>
          </a:p>
        </p:txBody>
      </p:sp>
      <p:sp>
        <p:nvSpPr>
          <p:cNvPr id="50" name="R5bg"/>
          <p:cNvSpPr/>
          <p:nvPr/>
        </p:nvSpPr>
        <p:spPr>
          <a:xfrm>
            <a:off x="4663440" y="1097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" name="R5badge"/>
          <p:cNvSpPr/>
          <p:nvPr/>
        </p:nvSpPr>
        <p:spPr>
          <a:xfrm>
            <a:off x="4709160" y="1124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2" name="R5txt"/>
          <p:cNvSpPr/>
          <p:nvPr/>
        </p:nvSpPr>
        <p:spPr>
          <a:xfrm>
            <a:off x="4892040" y="1097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Prazo definido pelo próprio colaborador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Cada um estipula seu deadline na inscrição. Pontualidade é 100% se cumprido, 0% se não.</a:t>
            </a:r>
          </a:p>
        </p:txBody>
      </p:sp>
      <p:sp>
        <p:nvSpPr>
          <p:cNvPr id="60" name="R6bg"/>
          <p:cNvSpPr/>
          <p:nvPr/>
        </p:nvSpPr>
        <p:spPr>
          <a:xfrm>
            <a:off x="4663440" y="1700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1" name="R6badge"/>
          <p:cNvSpPr/>
          <p:nvPr/>
        </p:nvSpPr>
        <p:spPr>
          <a:xfrm>
            <a:off x="4709160" y="1727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2" name="R6txt"/>
          <p:cNvSpPr/>
          <p:nvPr/>
        </p:nvSpPr>
        <p:spPr>
          <a:xfrm>
            <a:off x="4892040" y="1700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Projetos são individuais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Cada inscrição é vinculada a um único colaborador responsável. Colaborações devem ter um titular.</a:t>
            </a:r>
          </a:p>
        </p:txBody>
      </p:sp>
      <p:sp>
        <p:nvSpPr>
          <p:cNvPr id="70" name="R7bg"/>
          <p:cNvSpPr/>
          <p:nvPr/>
        </p:nvSpPr>
        <p:spPr>
          <a:xfrm>
            <a:off x="4663440" y="2303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1" name="R7badge"/>
          <p:cNvSpPr/>
          <p:nvPr/>
        </p:nvSpPr>
        <p:spPr>
          <a:xfrm>
            <a:off x="4709160" y="2330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2" name="R7txt"/>
          <p:cNvSpPr/>
          <p:nvPr/>
        </p:nvSpPr>
        <p:spPr>
          <a:xfrm>
            <a:off x="4892040" y="2303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Ranking renovado a cada ciclo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A pontuação não acumula entre ciclos. Cada período é uma nova oportunidade para todos.</a:t>
            </a:r>
          </a:p>
        </p:txBody>
      </p:sp>
      <p:sp>
        <p:nvSpPr>
          <p:cNvPr id="80" name="R8bg"/>
          <p:cNvSpPr/>
          <p:nvPr/>
        </p:nvSpPr>
        <p:spPr>
          <a:xfrm>
            <a:off x="4663440" y="290628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2A3A80">
              <a:alpha val="80000"/>
            </a:srgbClr>
          </a:solidFill>
          <a:ln>
            <a:solidFill>
              <a:srgbClr val="2A3A8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1" name="R8badge"/>
          <p:cNvSpPr/>
          <p:nvPr/>
        </p:nvSpPr>
        <p:spPr>
          <a:xfrm>
            <a:off x="4709160" y="2933280"/>
            <a:ext cx="137160" cy="49464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2" name="R8txt"/>
          <p:cNvSpPr/>
          <p:nvPr/>
        </p:nvSpPr>
        <p:spPr>
          <a:xfrm>
            <a:off x="4892040" y="2906280"/>
            <a:ext cx="3932640" cy="54864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FFFFF"/>
                </a:solidFill>
              </a:rPr>
              <a:t>Boas práticas viram referência para todos</a:t>
            </a:r>
          </a:p>
          <a:p>
            <a:pPr marL="0" indent="0">
              <a:buNone/>
            </a:pPr>
            <a:r>
              <a:rPr lang="pt-BR" sz="1000" dirty="0">
                <a:solidFill>
                  <a:srgbClr val="CADCFC"/>
                </a:solidFill>
              </a:rPr>
              <a:t>Projetos bem avaliados são compartilhados com toda a empresa como casos de sucesso.</a:t>
            </a:r>
          </a:p>
        </p:txBody>
      </p:sp>
      <p:sp>
        <p:nvSpPr>
          <p:cNvPr id="90" name="LegendaBg"/>
          <p:cNvSpPr/>
          <p:nvPr/>
        </p:nvSpPr>
        <p:spPr>
          <a:xfrm>
            <a:off x="274320" y="3600720"/>
            <a:ext cx="8595360" cy="320040"/>
          </a:xfrm>
          <a:prstGeom prst="roundRect">
            <a:avLst>
              <a:gd name="adj" fmla="val 10000"/>
            </a:avLst>
          </a:prstGeom>
          <a:solidFill>
            <a:srgbClr val="163060">
              <a:alpha val="80000"/>
            </a:srgbClr>
          </a:solidFill>
          <a:ln>
            <a:solidFill>
              <a:srgbClr val="CADCFC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" name="LegendaTxt"/>
          <p:cNvSpPr/>
          <p:nvPr/>
        </p:nvSpPr>
        <p:spPr>
          <a:xfrm>
            <a:off x="274320" y="3600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F5A623"/>
                </a:solidFill>
              </a:rPr>
              <a:t>▮ Acesso ao Claude  </a:t>
            </a:r>
            <a:r>
              <a:rPr lang="pt-BR" sz="900" dirty="0">
                <a:solidFill>
                  <a:srgbClr val="CADCFC"/>
                </a:solidFill>
              </a:rPr>
              <a:t>Regras que definem quem participa    </a:t>
            </a:r>
            <a:r>
              <a:rPr lang="pt-BR" sz="900" b="1" dirty="0">
                <a:solidFill>
                  <a:srgbClr val="22C55E"/>
                </a:solidFill>
              </a:rPr>
              <a:t>▮ Comportamento  </a:t>
            </a:r>
            <a:r>
              <a:rPr lang="pt-BR" sz="900" dirty="0">
                <a:solidFill>
                  <a:srgbClr val="CADCFC"/>
                </a:solidFill>
              </a:rPr>
              <a:t>Regras de conduta do programa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lexao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  <p:pic>
        <p:nvPicPr>
          <p:cNvPr id="2" name="Ax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840480"/>
            <a:ext cx="731520" cy="993168"/>
          </a:xfrm>
          <a:prstGeom prst="rect">
            <a:avLst/>
          </a:prstGeom>
        </p:spPr>
      </p:pic>
      <p:sp>
        <p:nvSpPr>
          <p:cNvPr id="3" name="Aspas"/>
          <p:cNvSpPr/>
          <p:nvPr/>
        </p:nvSpPr>
        <p:spPr>
          <a:xfrm>
            <a:off x="54864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600" b="1" dirty="0">
                <a:solidFill>
                  <a:srgbClr val="C8A84B">
                    <a:alpha val="25000"/>
                  </a:srgbClr>
                </a:solidFill>
                <a:latin typeface="Georgia" pitchFamily="34" charset="0"/>
              </a:rPr>
              <a:t>“</a:t>
            </a:r>
          </a:p>
        </p:txBody>
      </p:sp>
      <p:sp>
        <p:nvSpPr>
          <p:cNvPr id="4" name="Frase1"/>
          <p:cNvSpPr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dirty="0">
                <a:solidFill>
                  <a:srgbClr val="CADCFC"/>
                </a:solidFill>
                <a:latin typeface="Cambria" pitchFamily="34" charset="0"/>
              </a:rPr>
              <a:t>Não sabemos se nossa função será</a:t>
            </a:r>
          </a:p>
        </p:txBody>
      </p:sp>
      <p:sp>
        <p:nvSpPr>
          <p:cNvPr id="5" name="Substituida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6400" b="1" dirty="0">
                <a:solidFill>
                  <a:srgbClr val="FFFFFF"/>
                </a:solidFill>
                <a:latin typeface="Cambria" pitchFamily="34" charset="0"/>
              </a:rPr>
              <a:t>substituída pela IA.</a:t>
            </a:r>
          </a:p>
        </p:txBody>
      </p:sp>
      <p:sp>
        <p:nvSpPr>
          <p:cNvPr id="6" name="Divisor"/>
          <p:cNvSpPr/>
          <p:nvPr/>
        </p:nvSpPr>
        <p:spPr>
          <a:xfrm>
            <a:off x="548640" y="2377440"/>
            <a:ext cx="8046720" cy="45720"/>
          </a:xfrm>
          <a:prstGeom prst="rect">
            <a:avLst/>
          </a:prstGeom>
          <a:solidFill>
            <a:srgbClr val="C8A84B"/>
          </a:solidFill>
          <a:ln>
            <a:solidFill>
              <a:srgbClr val="C8A84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Frase2"/>
          <p:cNvSpPr/>
          <p:nvPr/>
        </p:nvSpPr>
        <p:spPr>
          <a:xfrm>
            <a:off x="1371600" y="2514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dirty="0">
                <a:solidFill>
                  <a:srgbClr val="CADCFC"/>
                </a:solidFill>
                <a:latin typeface="Cambria" pitchFamily="34" charset="0"/>
              </a:rPr>
              <a:t>Mas podemos afirmar que certamente seremos substituídos por</a:t>
            </a:r>
          </a:p>
        </p:txBody>
      </p:sp>
      <p:sp>
        <p:nvSpPr>
          <p:cNvPr id="8" name="Frase3"/>
          <p:cNvSpPr/>
          <p:nvPr/>
        </p:nvSpPr>
        <p:spPr>
          <a:xfrm>
            <a:off x="548640" y="3062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600" b="1" dirty="0">
                <a:solidFill>
                  <a:srgbClr val="C8A84B"/>
                </a:solidFill>
                <a:latin typeface="Cambria" pitchFamily="34" charset="0"/>
              </a:rPr>
              <a:t>alguém que sabe utilizar a IA.</a:t>
            </a:r>
          </a:p>
        </p:txBody>
      </p:sp>
      <p:sp>
        <p:nvSpPr>
          <p:cNvPr id="9" name="AspasF"/>
          <p:cNvSpPr/>
          <p:nvPr/>
        </p:nvSpPr>
        <p:spPr>
          <a:xfrm>
            <a:off x="7680960" y="3520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BR" sz="9600" b="1" dirty="0">
                <a:solidFill>
                  <a:srgbClr val="C8A84B">
                    <a:alpha val="25000"/>
                  </a:srgbClr>
                </a:solidFill>
                <a:latin typeface="Georgia" pitchFamily="34" charset="0"/>
              </a:rPr>
              <a:t>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A3A80">
              <a:alpha val="60000"/>
            </a:srgbClr>
          </a:solidFill>
          <a:ln w="12700">
            <a:solidFill>
              <a:srgbClr val="2A3A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A3A80">
              <a:alpha val="50000"/>
            </a:srgbClr>
          </a:solidFill>
          <a:ln w="12700">
            <a:solidFill>
              <a:srgbClr val="2A3A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74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 sua ideia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impacto real.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3749040" y="3108960"/>
            <a:ext cx="1645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Inscreva seu projeto e mostre como a IA pode gerar valor concreto para a empresa.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39319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20040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Inscreva-se agora</a:t>
            </a:r>
            <a:endParaRPr lang="en-US" sz="1400" dirty="0"/>
          </a:p>
        </p:txBody>
      </p:sp>
      <p:pic>
        <p:nvPicPr>
          <p:cNvPr id="901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2880"/>
            <a:ext cx="1371600" cy="179320"/>
          </a:xfrm>
          <a:prstGeom prst="rect">
            <a:avLst/>
          </a:prstGeom>
        </p:spPr>
      </p:pic>
      <p:pic>
        <p:nvPicPr>
          <p:cNvPr id="903" name="Ax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65760"/>
            <a:ext cx="1828800" cy="248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1713</Words>
  <Application>Microsoft Macintosh PowerPoint</Application>
  <PresentationFormat>Apresentação na tela (16:9)</PresentationFormat>
  <Paragraphs>315</Paragraphs>
  <Slides>15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Cambria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Projetos de IA</dc:title>
  <dc:subject>PptxGenJS Presentation</dc:subject>
  <dc:creator>PptxGenJS</dc:creator>
  <cp:lastModifiedBy>Marcos Andrade</cp:lastModifiedBy>
  <cp:revision>7</cp:revision>
  <dcterms:created xsi:type="dcterms:W3CDTF">2026-06-24T16:56:46Z</dcterms:created>
  <dcterms:modified xsi:type="dcterms:W3CDTF">2026-06-30T22:18:44Z</dcterms:modified>
</cp:coreProperties>
</file>